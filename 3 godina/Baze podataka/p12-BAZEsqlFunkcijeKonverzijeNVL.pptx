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18" autoAdjust="0"/>
    <p:restoredTop sz="94660"/>
  </p:normalViewPr>
  <p:slideViewPr>
    <p:cSldViewPr>
      <p:cViewPr varScale="1">
        <p:scale>
          <a:sx n="108" d="100"/>
          <a:sy n="108" d="100"/>
        </p:scale>
        <p:origin x="17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23B0E-D2F3-4A75-97E5-76670DD8935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B1590C-D666-4CE4-8D2A-8712254563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B1590C-D666-4CE4-8D2A-8712254563A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455D-D352-4208-AC6D-3F7C007363F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CFAF-B156-4010-B806-82B71B71B7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455D-D352-4208-AC6D-3F7C007363F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CFAF-B156-4010-B806-82B71B71B7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455D-D352-4208-AC6D-3F7C007363F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CFAF-B156-4010-B806-82B71B71B7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455D-D352-4208-AC6D-3F7C007363F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CFAF-B156-4010-B806-82B71B71B7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455D-D352-4208-AC6D-3F7C007363F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CFAF-B156-4010-B806-82B71B71B7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455D-D352-4208-AC6D-3F7C007363F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CFAF-B156-4010-B806-82B71B71B7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455D-D352-4208-AC6D-3F7C007363F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CFAF-B156-4010-B806-82B71B71B7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455D-D352-4208-AC6D-3F7C007363F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CFAF-B156-4010-B806-82B71B71B7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455D-D352-4208-AC6D-3F7C007363F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CFAF-B156-4010-B806-82B71B71B7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455D-D352-4208-AC6D-3F7C007363F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CFAF-B156-4010-B806-82B71B71B7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8455D-D352-4208-AC6D-3F7C007363F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9CFAF-B156-4010-B806-82B71B71B7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8455D-D352-4208-AC6D-3F7C007363F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9CFAF-B156-4010-B806-82B71B71B75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Funkcije konverzije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b="1" dirty="0"/>
              <a:t>Implicitna konverzija </a:t>
            </a:r>
            <a:r>
              <a:rPr lang="sr-Latn-RS" dirty="0"/>
              <a:t>– automatski se konvertuju podaci iz jednog tipa podataka u drugi</a:t>
            </a:r>
          </a:p>
          <a:p>
            <a:endParaRPr lang="sr-Latn-R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3581402"/>
          <a:ext cx="60960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  <a:r>
                        <a:rPr lang="sr-Latn-RS" dirty="0"/>
                        <a:t>olazni tip podataka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  <a:r>
                        <a:rPr lang="sr-Latn-RS" dirty="0"/>
                        <a:t>iljni tip podataka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dirty="0"/>
                        <a:t>VARCHAR2 or CHAR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NUMBER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dirty="0"/>
                        <a:t>VARCHAR2 or CHAR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Funkcije konverzije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/>
              <a:t>Eksplicitna konverzija </a:t>
            </a:r>
            <a:r>
              <a:rPr lang="sr-Latn-RS" dirty="0"/>
              <a:t>– eksplicitno pozivamo odgovarajuću funkciju konverzije. Omogućava nam da osiguramo pouzdanost u SQL naredbi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600" y="3352800"/>
          <a:ext cx="75438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  <a:r>
                        <a:rPr lang="sr-Latn-RS" dirty="0"/>
                        <a:t>olazni tip podataka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  <a:r>
                        <a:rPr lang="sr-Latn-RS" dirty="0"/>
                        <a:t>unkcija konverzije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Ciljni tip podataka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sr-Latn-RS" dirty="0"/>
                        <a:t>CHAR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TO_NUMBER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NUMBER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sr-Latn-RS" dirty="0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TO_CHAR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CHAR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sr-Latn-RS" dirty="0"/>
                        <a:t>CHAR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TO_DATE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DATE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sr-Latn-RS" dirty="0"/>
                        <a:t>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TO_CHAR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CHAR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Funkcije konverzije</a:t>
            </a:r>
            <a:br>
              <a:rPr lang="sr-Latn-RS" dirty="0"/>
            </a:br>
            <a:r>
              <a:rPr lang="sr-Latn-RS" dirty="0"/>
              <a:t>datum u 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sr-Latn-RS" dirty="0"/>
              <a:t>Često je potrebno da datum konvertujemo u neki oblik različit od  </a:t>
            </a:r>
            <a:r>
              <a:rPr lang="en-US" dirty="0"/>
              <a:t>DD</a:t>
            </a:r>
            <a:r>
              <a:rPr lang="sr-Latn-RS" dirty="0"/>
              <a:t> </a:t>
            </a:r>
            <a:r>
              <a:rPr lang="en-US" dirty="0"/>
              <a:t>Mon-YYYY </a:t>
            </a:r>
            <a:r>
              <a:rPr lang="sr-Latn-RS" dirty="0"/>
              <a:t>formata. Željeni format navodimo između apostrofa</a:t>
            </a:r>
          </a:p>
          <a:p>
            <a:pPr>
              <a:buNone/>
            </a:pPr>
            <a:r>
              <a:rPr lang="en-US" b="1" dirty="0"/>
              <a:t>TO_CHAR (date column name, 'format model')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b="1" dirty="0"/>
              <a:t>sp</a:t>
            </a:r>
            <a:r>
              <a:rPr lang="sr-Latn-RS" dirty="0"/>
              <a:t> -broj pišemo rečima</a:t>
            </a:r>
          </a:p>
          <a:p>
            <a:pPr>
              <a:buNone/>
            </a:pPr>
            <a:r>
              <a:rPr lang="sr-Latn-RS" b="1" dirty="0"/>
              <a:t> </a:t>
            </a:r>
            <a:r>
              <a:rPr lang="en-US" b="1" dirty="0" err="1"/>
              <a:t>th</a:t>
            </a:r>
            <a:r>
              <a:rPr lang="sr-Latn-RS" dirty="0"/>
              <a:t> -broj se navodi kao redni broj</a:t>
            </a:r>
            <a:r>
              <a:rPr lang="en-US" dirty="0"/>
              <a:t>to (1st, 2nd</a:t>
            </a:r>
            <a:r>
              <a:rPr lang="sr-Latn-RS" dirty="0"/>
              <a:t>...</a:t>
            </a:r>
            <a:r>
              <a:rPr lang="en-US" dirty="0"/>
              <a:t>)</a:t>
            </a:r>
            <a:endParaRPr lang="sr-Latn-RS" dirty="0"/>
          </a:p>
          <a:p>
            <a:pPr>
              <a:buNone/>
            </a:pPr>
            <a:r>
              <a:rPr lang="sr-Latn-RS" dirty="0"/>
              <a:t> </a:t>
            </a:r>
            <a:r>
              <a:rPr lang="en-US" b="1" dirty="0"/>
              <a:t>fm</a:t>
            </a:r>
            <a:r>
              <a:rPr lang="sr-Latn-RS" b="1" dirty="0"/>
              <a:t> </a:t>
            </a:r>
            <a:r>
              <a:rPr lang="sr-Latn-RS" dirty="0"/>
              <a:t>-uklanjaju se vodeći blankovi ili nule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Funkcije konverzije </a:t>
            </a:r>
            <a:br>
              <a:rPr lang="sr-Latn-RS" dirty="0"/>
            </a:br>
            <a:r>
              <a:rPr lang="sr-Latn-RS" dirty="0"/>
              <a:t>datum u string - primeri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SELECT TO_CHAR(</a:t>
            </a:r>
            <a:r>
              <a:rPr lang="en-US" dirty="0" err="1"/>
              <a:t>hire_date</a:t>
            </a:r>
            <a:r>
              <a:rPr lang="en-US" dirty="0"/>
              <a:t>, '</a:t>
            </a:r>
            <a:r>
              <a:rPr lang="en-US" dirty="0" err="1"/>
              <a:t>fmDay</a:t>
            </a:r>
            <a:r>
              <a:rPr lang="en-US" dirty="0"/>
              <a:t> </a:t>
            </a:r>
            <a:r>
              <a:rPr lang="en-US" dirty="0" err="1"/>
              <a:t>ddth</a:t>
            </a:r>
            <a:r>
              <a:rPr lang="en-US" dirty="0"/>
              <a:t> Mon,</a:t>
            </a:r>
            <a:r>
              <a:rPr lang="sr-Latn-RS" dirty="0"/>
              <a:t> </a:t>
            </a:r>
            <a:r>
              <a:rPr lang="en-US" dirty="0"/>
              <a:t>YYYY') FROM employees;</a:t>
            </a:r>
            <a:endParaRPr lang="sr-Latn-RS" dirty="0"/>
          </a:p>
          <a:p>
            <a:pPr>
              <a:buNone/>
            </a:pPr>
            <a:r>
              <a:rPr lang="en-US" dirty="0"/>
              <a:t>Tuesday 7th Jun, 1994</a:t>
            </a:r>
            <a:endParaRPr lang="sr-Latn-RS" dirty="0"/>
          </a:p>
          <a:p>
            <a:pPr>
              <a:buNone/>
            </a:pPr>
            <a:r>
              <a:rPr lang="en-US" dirty="0"/>
              <a:t>SELECT TO_CHAR(</a:t>
            </a:r>
            <a:r>
              <a:rPr lang="en-US" dirty="0" err="1"/>
              <a:t>hire_date</a:t>
            </a:r>
            <a:r>
              <a:rPr lang="en-US" dirty="0"/>
              <a:t>, '</a:t>
            </a:r>
            <a:r>
              <a:rPr lang="en-US" dirty="0" err="1"/>
              <a:t>fmDay</a:t>
            </a:r>
            <a:r>
              <a:rPr lang="en-US" dirty="0"/>
              <a:t> </a:t>
            </a:r>
            <a:r>
              <a:rPr lang="en-US" dirty="0" err="1"/>
              <a:t>ddthsp</a:t>
            </a:r>
            <a:r>
              <a:rPr lang="en-US" dirty="0"/>
              <a:t> Mon, YYYY') FROM employees;</a:t>
            </a:r>
            <a:endParaRPr lang="sr-Latn-RS" dirty="0"/>
          </a:p>
          <a:p>
            <a:pPr>
              <a:buNone/>
            </a:pPr>
            <a:r>
              <a:rPr lang="en-US" dirty="0"/>
              <a:t>Tuesday, seventh Jun, 1994</a:t>
            </a:r>
            <a:endParaRPr lang="sr-Latn-RS" dirty="0"/>
          </a:p>
          <a:p>
            <a:pPr>
              <a:buNone/>
            </a:pPr>
            <a:r>
              <a:rPr lang="en-US" dirty="0"/>
              <a:t>SELECT TO_CHAR(</a:t>
            </a:r>
            <a:r>
              <a:rPr lang="en-US" dirty="0" err="1"/>
              <a:t>hire_date</a:t>
            </a:r>
            <a:r>
              <a:rPr lang="en-US" dirty="0"/>
              <a:t>, '</a:t>
            </a:r>
            <a:r>
              <a:rPr lang="en-US" dirty="0" err="1"/>
              <a:t>fmDay</a:t>
            </a:r>
            <a:r>
              <a:rPr lang="en-US" dirty="0"/>
              <a:t>, </a:t>
            </a:r>
            <a:r>
              <a:rPr lang="en-US" dirty="0" err="1"/>
              <a:t>ddthsp</a:t>
            </a:r>
            <a:r>
              <a:rPr lang="en-US" dirty="0"/>
              <a:t> "of" Month, Year') FROM employees;</a:t>
            </a:r>
            <a:endParaRPr lang="sr-Latn-RS" dirty="0"/>
          </a:p>
          <a:p>
            <a:pPr>
              <a:buNone/>
            </a:pPr>
            <a:r>
              <a:rPr lang="en-US" dirty="0"/>
              <a:t>Tuesday, seventh of June, Nineteen Ninety-Four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sr-Latn-R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Funkcije konverzije </a:t>
            </a:r>
            <a:br>
              <a:rPr lang="sr-Latn-RS" dirty="0"/>
            </a:br>
            <a:r>
              <a:rPr lang="sr-Latn-RS" dirty="0"/>
              <a:t>datum u string - primeri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SELECT TO_CHAR(SYSDATE, '</a:t>
            </a:r>
            <a:r>
              <a:rPr lang="en-US" dirty="0" err="1"/>
              <a:t>hh:mm</a:t>
            </a:r>
            <a:r>
              <a:rPr lang="en-US" dirty="0"/>
              <a:t>') </a:t>
            </a:r>
            <a:endParaRPr lang="sr-Latn-RS" dirty="0"/>
          </a:p>
          <a:p>
            <a:pPr>
              <a:buNone/>
            </a:pPr>
            <a:r>
              <a:rPr lang="en-US" dirty="0"/>
              <a:t>FROM dual;</a:t>
            </a:r>
            <a:endParaRPr lang="sr-Latn-RS" dirty="0"/>
          </a:p>
          <a:p>
            <a:pPr>
              <a:buNone/>
            </a:pPr>
            <a:r>
              <a:rPr lang="sr-Latn-RS" dirty="0"/>
              <a:t>02:07</a:t>
            </a:r>
            <a:endParaRPr lang="en-US" dirty="0"/>
          </a:p>
          <a:p>
            <a:pPr>
              <a:buNone/>
            </a:pPr>
            <a:r>
              <a:rPr lang="en-US" dirty="0"/>
              <a:t>SELECT TO_CHAR(SYSDATE, '</a:t>
            </a:r>
            <a:r>
              <a:rPr lang="en-US" dirty="0" err="1"/>
              <a:t>hh:mm:ss</a:t>
            </a:r>
            <a:r>
              <a:rPr lang="en-US" dirty="0"/>
              <a:t> pm')</a:t>
            </a:r>
            <a:r>
              <a:rPr lang="sr-Latn-RS" dirty="0"/>
              <a:t> </a:t>
            </a:r>
            <a:r>
              <a:rPr lang="en-US" dirty="0"/>
              <a:t>FROM dual;</a:t>
            </a:r>
            <a:endParaRPr lang="sr-Latn-RS" dirty="0"/>
          </a:p>
          <a:p>
            <a:pPr>
              <a:buNone/>
            </a:pPr>
            <a:r>
              <a:rPr lang="en-US" dirty="0"/>
              <a:t>02:07:23 am</a:t>
            </a:r>
          </a:p>
          <a:p>
            <a:pPr>
              <a:buNone/>
            </a:pPr>
            <a:r>
              <a:rPr lang="en-US" dirty="0"/>
              <a:t>SELECT TO_CHAR(</a:t>
            </a:r>
            <a:r>
              <a:rPr lang="en-US" dirty="0" err="1"/>
              <a:t>hire_date</a:t>
            </a:r>
            <a:r>
              <a:rPr lang="en-US" dirty="0"/>
              <a:t>, '</a:t>
            </a:r>
            <a:r>
              <a:rPr lang="en-US" dirty="0" err="1"/>
              <a:t>hh:mm:ss</a:t>
            </a:r>
            <a:r>
              <a:rPr lang="en-US" dirty="0"/>
              <a:t> pm </a:t>
            </a:r>
            <a:r>
              <a:rPr lang="en-US" dirty="0" err="1"/>
              <a:t>fmDay</a:t>
            </a:r>
            <a:r>
              <a:rPr lang="en-US" dirty="0"/>
              <a:t>, </a:t>
            </a:r>
            <a:r>
              <a:rPr lang="en-US" dirty="0" err="1"/>
              <a:t>ddthsp</a:t>
            </a:r>
            <a:r>
              <a:rPr lang="en-US" dirty="0"/>
              <a:t> "of" Month, Year') FROM employees;</a:t>
            </a:r>
          </a:p>
          <a:p>
            <a:pPr>
              <a:buNone/>
            </a:pPr>
            <a:r>
              <a:rPr lang="en-US" dirty="0"/>
              <a:t>12:09:00 am Thursday, seventeenth of September, Nineteen Eighty-Seven</a:t>
            </a:r>
            <a:endParaRPr lang="sr-Latn-R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Funkcije konverzije </a:t>
            </a:r>
            <a:br>
              <a:rPr lang="sr-Latn-RS" dirty="0"/>
            </a:br>
            <a:r>
              <a:rPr lang="sr-Latn-RS" dirty="0"/>
              <a:t>numerički podatak u 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Konvertovanje</a:t>
            </a:r>
            <a:r>
              <a:rPr lang="en-US" dirty="0"/>
              <a:t> </a:t>
            </a:r>
            <a:r>
              <a:rPr lang="en-US" dirty="0" err="1"/>
              <a:t>numeri</a:t>
            </a:r>
            <a:r>
              <a:rPr lang="sr-Latn-BA" dirty="0"/>
              <a:t>č</a:t>
            </a:r>
            <a:r>
              <a:rPr lang="en-US" dirty="0" err="1"/>
              <a:t>kih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u </a:t>
            </a:r>
            <a:r>
              <a:rPr lang="sr-Latn-BA" dirty="0"/>
              <a:t>znakovne koristimo kada želimo ispis numeričkih podataka u određenom obliku</a:t>
            </a:r>
          </a:p>
          <a:p>
            <a:pPr marL="0" indent="0">
              <a:buNone/>
            </a:pPr>
            <a:r>
              <a:rPr lang="en-US" b="1" dirty="0"/>
              <a:t>TO_CHAR(number, 'format model')</a:t>
            </a:r>
            <a:endParaRPr lang="sr-Latn-BA" b="1" dirty="0"/>
          </a:p>
          <a:p>
            <a:pPr marL="0" indent="0">
              <a:buNone/>
            </a:pPr>
            <a:endParaRPr lang="sr-Latn-BA" b="1" dirty="0"/>
          </a:p>
          <a:p>
            <a:pPr marL="0" indent="0">
              <a:buNone/>
            </a:pPr>
            <a:r>
              <a:rPr lang="en-US" dirty="0"/>
              <a:t>SELECT TO_CHAR(salary, ‘$999,999.99') AS "Salary" FROM employees;</a:t>
            </a:r>
            <a:endParaRPr lang="sr-Latn-BA" dirty="0"/>
          </a:p>
          <a:p>
            <a:pPr marL="0" indent="0">
              <a:buNone/>
            </a:pPr>
            <a:r>
              <a:rPr lang="en-US" dirty="0"/>
              <a:t>$24,000.00</a:t>
            </a:r>
          </a:p>
        </p:txBody>
      </p:sp>
    </p:spTree>
    <p:extLst>
      <p:ext uri="{BB962C8B-B14F-4D97-AF65-F5344CB8AC3E}">
        <p14:creationId xmlns:p14="http://schemas.microsoft.com/office/powerpoint/2010/main" val="279849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Funkcije konverzije</a:t>
            </a:r>
            <a:br>
              <a:rPr lang="sr-Latn-RS" dirty="0"/>
            </a:br>
            <a:r>
              <a:rPr lang="sr-Latn-RS" dirty="0"/>
              <a:t>numerički podatak u string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BA" dirty="0"/>
              <a:t>Elementi koji se najčešće koriste u formatu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829555"/>
              </p:ext>
            </p:extLst>
          </p:nvPr>
        </p:nvGraphicFramePr>
        <p:xfrm>
          <a:off x="914400" y="2362202"/>
          <a:ext cx="7772400" cy="3809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lang="sr-Latn-BA" dirty="0"/>
                        <a:t>element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opis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primer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rezultat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sr-Latn-BA" dirty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Numeričke pozicije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999999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1234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998">
                <a:tc>
                  <a:txBody>
                    <a:bodyPr/>
                    <a:lstStyle/>
                    <a:p>
                      <a:r>
                        <a:rPr lang="sr-Latn-BA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Prikazuje vodeće nule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0999999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001234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sr-Latn-BA" dirty="0"/>
                        <a:t>$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Znak za dolar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$999999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$1234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sr-Latn-BA" dirty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Pozicija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decimalne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tačke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999999.99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r-Latn-BA" dirty="0"/>
                        <a:t>1234.00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sr-Latn-BA" dirty="0"/>
                        <a:t>,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BA" dirty="0"/>
                        <a:t>Specifikacija zareza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999,999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1,234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894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Funkcije konverzije</a:t>
            </a:r>
            <a:br>
              <a:rPr lang="sr-Latn-RS" dirty="0"/>
            </a:br>
            <a:r>
              <a:rPr lang="sr-Latn-RS" dirty="0"/>
              <a:t>znakovni u numerički podatak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BA" dirty="0"/>
              <a:t>Konverzija znakovnih podataka u numeričke je potrebna kada želimo da izvršimo neku računsku operaciju sa tim podacima.</a:t>
            </a:r>
          </a:p>
          <a:p>
            <a:pPr marL="0" indent="0">
              <a:buNone/>
            </a:pPr>
            <a:r>
              <a:rPr lang="en-US" b="1" dirty="0"/>
              <a:t>TO_NUMBER(character string, 'format model')</a:t>
            </a:r>
            <a:endParaRPr lang="sr-Latn-BA" b="1" dirty="0"/>
          </a:p>
          <a:p>
            <a:r>
              <a:rPr lang="en-US" dirty="0"/>
              <a:t>format model </a:t>
            </a:r>
            <a:r>
              <a:rPr lang="sr-Latn-BA" dirty="0"/>
              <a:t>je opcioni deo. Neophodan je kada podaci sadrže i karaktere koji nisu cifre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last_name</a:t>
            </a:r>
            <a:r>
              <a:rPr lang="en-US" dirty="0"/>
              <a:t>, TO_NUMBER(bonus, '9999') AS "Bonus" FROM employees</a:t>
            </a:r>
            <a:endParaRPr lang="sr-Latn-BA" dirty="0"/>
          </a:p>
          <a:p>
            <a:pPr marL="0" indent="0">
              <a:buNone/>
            </a:pPr>
            <a:r>
              <a:rPr lang="en-US" dirty="0"/>
              <a:t>Abel 1700 </a:t>
            </a:r>
          </a:p>
        </p:txBody>
      </p:sp>
    </p:spTree>
    <p:extLst>
      <p:ext uri="{BB962C8B-B14F-4D97-AF65-F5344CB8AC3E}">
        <p14:creationId xmlns:p14="http://schemas.microsoft.com/office/powerpoint/2010/main" val="3833683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Funkcije konverzije</a:t>
            </a:r>
            <a:br>
              <a:rPr lang="sr-Latn-RS" dirty="0"/>
            </a:br>
            <a:r>
              <a:rPr lang="sr-Latn-RS" dirty="0"/>
              <a:t>string u datum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r-Latn-BA" dirty="0"/>
              <a:t>Konvertovanje stringa koji opisuje datum u datum je moguće ako opišemo u kom formatu je dati string</a:t>
            </a:r>
          </a:p>
          <a:p>
            <a:pPr marL="0" indent="0">
              <a:buNone/>
            </a:pPr>
            <a:r>
              <a:rPr lang="en-US" b="1" dirty="0"/>
              <a:t>TO_DATE('character string', 'format model') </a:t>
            </a:r>
            <a:endParaRPr lang="sr-Latn-BA" b="1" dirty="0"/>
          </a:p>
          <a:p>
            <a:pPr marL="0" indent="0">
              <a:buNone/>
            </a:pPr>
            <a:r>
              <a:rPr lang="en-US" dirty="0"/>
              <a:t>SELECT TO_DATE('November 3, 2018', </a:t>
            </a:r>
            <a:endParaRPr lang="sr-Latn-BA" dirty="0"/>
          </a:p>
          <a:p>
            <a:pPr marL="0" indent="0">
              <a:buNone/>
            </a:pPr>
            <a:r>
              <a:rPr lang="en-US" dirty="0"/>
              <a:t>'Month </a:t>
            </a:r>
            <a:r>
              <a:rPr lang="en-US" dirty="0" err="1"/>
              <a:t>dd</a:t>
            </a:r>
            <a:r>
              <a:rPr lang="en-US" dirty="0"/>
              <a:t>, </a:t>
            </a:r>
            <a:r>
              <a:rPr lang="en-US" dirty="0" err="1"/>
              <a:t>yyyy</a:t>
            </a:r>
            <a:r>
              <a:rPr lang="en-US" dirty="0"/>
              <a:t>')</a:t>
            </a:r>
            <a:r>
              <a:rPr lang="sr-Latn-BA" dirty="0"/>
              <a:t> </a:t>
            </a:r>
            <a:r>
              <a:rPr lang="en-US" dirty="0"/>
              <a:t>FROM DUAL </a:t>
            </a:r>
            <a:endParaRPr lang="sr-Latn-BA" dirty="0"/>
          </a:p>
          <a:p>
            <a:pPr marL="0" indent="0">
              <a:buNone/>
            </a:pPr>
            <a:r>
              <a:rPr lang="en-US" dirty="0"/>
              <a:t>03-Nov-2018</a:t>
            </a:r>
            <a:endParaRPr lang="sr-Latn-BA" dirty="0"/>
          </a:p>
          <a:p>
            <a:pPr marL="0" indent="0">
              <a:buNone/>
            </a:pPr>
            <a:r>
              <a:rPr lang="sr-Latn-BA" dirty="0"/>
              <a:t>Pretpostavlja se da je godina prikazana sa četiri cifre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809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Funkcije konverzije</a:t>
            </a:r>
            <a:br>
              <a:rPr lang="sr-Latn-RS" dirty="0"/>
            </a:br>
            <a:r>
              <a:rPr lang="sr-Latn-RS" dirty="0"/>
              <a:t>string u datum YY i RR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sr-Latn-BA" dirty="0"/>
              <a:t>Ako je prikazani datum sa samo dve cifre za godinu i godina u podacima je u tekućem veku koristimo </a:t>
            </a:r>
            <a:r>
              <a:rPr lang="sr-Latn-BA" b="1" dirty="0"/>
              <a:t>YY</a:t>
            </a:r>
            <a:r>
              <a:rPr lang="sr-Latn-BA" dirty="0"/>
              <a:t> format</a:t>
            </a:r>
            <a:endParaRPr lang="en-US" dirty="0"/>
          </a:p>
          <a:p>
            <a:r>
              <a:rPr lang="sr-Latn-BA" dirty="0"/>
              <a:t>Ako je prikazan datum sa samo dve cifre za godinu, a godina nije u tekućem veku koristimo </a:t>
            </a:r>
            <a:r>
              <a:rPr lang="sr-Latn-BA" b="1" dirty="0"/>
              <a:t>RR</a:t>
            </a:r>
            <a:r>
              <a:rPr lang="sr-Latn-BA" dirty="0"/>
              <a:t> format:</a:t>
            </a:r>
          </a:p>
          <a:p>
            <a:pPr marL="514350" indent="-514350">
              <a:buFont typeface="+mj-lt"/>
              <a:buAutoNum type="arabicPeriod"/>
            </a:pPr>
            <a:r>
              <a:rPr lang="sr-Latn-BA" dirty="0"/>
              <a:t>Zadata godina je  </a:t>
            </a:r>
            <a:r>
              <a:rPr lang="en-US" dirty="0"/>
              <a:t>0-49</a:t>
            </a:r>
            <a:r>
              <a:rPr lang="sr-Latn-BA" dirty="0"/>
              <a:t> a tekuća </a:t>
            </a:r>
            <a:r>
              <a:rPr lang="en-US" dirty="0"/>
              <a:t>0-49</a:t>
            </a:r>
            <a:r>
              <a:rPr lang="sr-Latn-BA" dirty="0"/>
              <a:t>  tekući vek</a:t>
            </a:r>
          </a:p>
          <a:p>
            <a:pPr marL="514350" indent="-514350">
              <a:buFont typeface="+mj-lt"/>
              <a:buAutoNum type="arabicPeriod"/>
            </a:pPr>
            <a:r>
              <a:rPr lang="sr-Latn-BA" dirty="0"/>
              <a:t>Zadata godina  50-99 a tekuća 0-49 	predhodni vek</a:t>
            </a:r>
          </a:p>
          <a:p>
            <a:pPr marL="514350" indent="-514350">
              <a:buFont typeface="+mj-lt"/>
              <a:buAutoNum type="arabicPeriod"/>
            </a:pPr>
            <a:r>
              <a:rPr lang="sr-Latn-BA" dirty="0"/>
              <a:t>Zadata godina 0-49 a tekuća 50-99	 naredni vek</a:t>
            </a:r>
          </a:p>
          <a:p>
            <a:pPr marL="514350" indent="-514350">
              <a:buFont typeface="+mj-lt"/>
              <a:buAutoNum type="arabicPeriod"/>
            </a:pPr>
            <a:r>
              <a:rPr lang="sr-Latn-BA" dirty="0"/>
              <a:t>Zadata godina 50-99 a tekuća 50-99   tekući vek</a:t>
            </a:r>
            <a:endParaRPr lang="en-US" dirty="0"/>
          </a:p>
          <a:p>
            <a:pPr marL="514350" indent="-514350">
              <a:buNone/>
            </a:pPr>
            <a:r>
              <a:rPr lang="en-US" dirty="0"/>
              <a:t>	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727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Funkcije konverzije</a:t>
            </a:r>
            <a:br>
              <a:rPr lang="sr-Latn-RS" dirty="0"/>
            </a:br>
            <a:r>
              <a:rPr lang="sr-Latn-RS" dirty="0"/>
              <a:t>string u datum YY i RR primeri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sr-Latn-BA" sz="2600" dirty="0"/>
              <a:t>Ako je tekuća godina 2019 podatke o kojim zaposlenim će se prikazati u sledećim primerima:</a:t>
            </a:r>
          </a:p>
          <a:p>
            <a:pPr>
              <a:buNone/>
            </a:pPr>
            <a:r>
              <a:rPr lang="en-US" sz="2600" dirty="0"/>
              <a:t>SELECT </a:t>
            </a:r>
            <a:r>
              <a:rPr lang="en-US" sz="2600" dirty="0" err="1"/>
              <a:t>last_name</a:t>
            </a:r>
            <a:r>
              <a:rPr lang="en-US" sz="2600" dirty="0"/>
              <a:t>, TO_CHAR(</a:t>
            </a:r>
            <a:r>
              <a:rPr lang="en-US" sz="2600" dirty="0" err="1"/>
              <a:t>hire_date</a:t>
            </a:r>
            <a:r>
              <a:rPr lang="en-US" sz="2600" dirty="0"/>
              <a:t>, 'DD-Mon-YY</a:t>
            </a:r>
            <a:r>
              <a:rPr lang="sr-Latn-BA" sz="2600" dirty="0"/>
              <a:t>YY</a:t>
            </a:r>
            <a:r>
              <a:rPr lang="en-US" sz="2600" dirty="0"/>
              <a:t>')</a:t>
            </a:r>
          </a:p>
          <a:p>
            <a:pPr>
              <a:buNone/>
            </a:pPr>
            <a:r>
              <a:rPr lang="en-US" sz="2600" dirty="0"/>
              <a:t>FROM employees</a:t>
            </a:r>
          </a:p>
          <a:p>
            <a:pPr>
              <a:buNone/>
            </a:pPr>
            <a:r>
              <a:rPr lang="en-US" sz="2600" dirty="0"/>
              <a:t>WHERE </a:t>
            </a:r>
            <a:r>
              <a:rPr lang="en-US" sz="2600" dirty="0" err="1"/>
              <a:t>hire_date</a:t>
            </a:r>
            <a:r>
              <a:rPr lang="en-US" sz="2600" dirty="0"/>
              <a:t>&lt; TO_DATE('01-Jan-90','DD-Mon-YY'); </a:t>
            </a:r>
            <a:endParaRPr lang="sr-Latn-BA" sz="2600" dirty="0"/>
          </a:p>
          <a:p>
            <a:pPr>
              <a:buNone/>
            </a:pPr>
            <a:endParaRPr lang="sr-Latn-BA" sz="2600" dirty="0"/>
          </a:p>
          <a:p>
            <a:pPr>
              <a:buNone/>
            </a:pPr>
            <a:r>
              <a:rPr lang="en-US" sz="2600" dirty="0"/>
              <a:t>SELECT </a:t>
            </a:r>
            <a:r>
              <a:rPr lang="en-US" sz="2600" dirty="0" err="1"/>
              <a:t>last_name</a:t>
            </a:r>
            <a:r>
              <a:rPr lang="en-US" sz="2600" dirty="0"/>
              <a:t>, TO_CHAR(</a:t>
            </a:r>
            <a:r>
              <a:rPr lang="en-US" sz="2600" dirty="0" err="1"/>
              <a:t>hire_date</a:t>
            </a:r>
            <a:r>
              <a:rPr lang="en-US" sz="2600" dirty="0"/>
              <a:t>, 'DD-Mon-</a:t>
            </a:r>
            <a:r>
              <a:rPr lang="sr-Latn-BA" sz="2600" dirty="0"/>
              <a:t>YYYY</a:t>
            </a:r>
            <a:r>
              <a:rPr lang="en-US" sz="2600" dirty="0"/>
              <a:t>')</a:t>
            </a:r>
          </a:p>
          <a:p>
            <a:pPr>
              <a:buNone/>
            </a:pPr>
            <a:r>
              <a:rPr lang="en-US" sz="2600" dirty="0"/>
              <a:t>FROM employees</a:t>
            </a:r>
          </a:p>
          <a:p>
            <a:pPr>
              <a:buNone/>
            </a:pPr>
            <a:r>
              <a:rPr lang="en-US" sz="2600" dirty="0"/>
              <a:t>WHERE </a:t>
            </a:r>
            <a:r>
              <a:rPr lang="en-US" sz="2600" dirty="0" err="1"/>
              <a:t>hire_date</a:t>
            </a:r>
            <a:r>
              <a:rPr lang="en-US" sz="2600" dirty="0"/>
              <a:t>&lt; TO_DATE('01-Jan-90','DD-Mon-</a:t>
            </a:r>
            <a:r>
              <a:rPr lang="sr-Latn-BA" sz="2600" dirty="0"/>
              <a:t>RR</a:t>
            </a:r>
            <a:r>
              <a:rPr lang="en-US" sz="2600" dirty="0"/>
              <a:t>'); 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BA" dirty="0"/>
              <a:t>Kombinovanje funkcija za manipulaciju podataka i funkcija konverzije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sr-Latn-BA" sz="2400" dirty="0"/>
              <a:t>SELECT TO_CHAR(ADD_MONTHS(SYSDATE,3), </a:t>
            </a:r>
            <a:r>
              <a:rPr lang="en-US" sz="2400" dirty="0"/>
              <a:t>'</a:t>
            </a:r>
            <a:r>
              <a:rPr lang="en-US" sz="2400" dirty="0" err="1"/>
              <a:t>fmDay</a:t>
            </a:r>
            <a:r>
              <a:rPr lang="en-US" sz="2400" dirty="0"/>
              <a:t> </a:t>
            </a:r>
            <a:r>
              <a:rPr lang="en-US" sz="2400" dirty="0" err="1"/>
              <a:t>ddth</a:t>
            </a:r>
            <a:r>
              <a:rPr lang="en-US" sz="2400" dirty="0"/>
              <a:t> Mon,</a:t>
            </a:r>
            <a:r>
              <a:rPr lang="sr-Latn-RS" sz="2400" dirty="0"/>
              <a:t> </a:t>
            </a:r>
            <a:r>
              <a:rPr lang="en-US" sz="2400" dirty="0"/>
              <a:t>YYYY') </a:t>
            </a:r>
            <a:endParaRPr lang="sr-Latn-BA" sz="2400" dirty="0"/>
          </a:p>
          <a:p>
            <a:pPr>
              <a:buNone/>
            </a:pPr>
            <a:r>
              <a:rPr lang="en-US" sz="2400" dirty="0"/>
              <a:t>FROM </a:t>
            </a:r>
            <a:r>
              <a:rPr lang="sr-Latn-BA" sz="2400" dirty="0"/>
              <a:t>DUAL</a:t>
            </a:r>
            <a:r>
              <a:rPr lang="en-US" sz="2400" dirty="0"/>
              <a:t>;</a:t>
            </a:r>
            <a:r>
              <a:rPr lang="sr-Latn-BA" sz="2400" dirty="0"/>
              <a:t> </a:t>
            </a:r>
          </a:p>
          <a:p>
            <a:pPr>
              <a:buNone/>
            </a:pPr>
            <a:r>
              <a:rPr lang="en-US" sz="2400" dirty="0"/>
              <a:t>Friday 31st May, 2019</a:t>
            </a:r>
            <a:endParaRPr lang="sr-Latn-BA" sz="2400" dirty="0"/>
          </a:p>
          <a:p>
            <a:pPr>
              <a:buNone/>
            </a:pPr>
            <a:endParaRPr lang="sr-Latn-BA" sz="2400" dirty="0"/>
          </a:p>
          <a:p>
            <a:pPr>
              <a:buNone/>
            </a:pPr>
            <a:r>
              <a:rPr lang="en-US" sz="2400" dirty="0"/>
              <a:t>SELECT</a:t>
            </a:r>
            <a:r>
              <a:rPr lang="sr-Latn-BA" sz="2400" dirty="0"/>
              <a:t> </a:t>
            </a:r>
            <a:r>
              <a:rPr lang="en-US" sz="2400" dirty="0"/>
              <a:t>TO_CHAR(NEXT_DAY(ADD_MONTHS(</a:t>
            </a:r>
            <a:r>
              <a:rPr lang="en-US" sz="2400" dirty="0" err="1"/>
              <a:t>hire_date</a:t>
            </a:r>
            <a:r>
              <a:rPr lang="en-US" sz="2400" dirty="0"/>
              <a:t>, 6), 'FRIDAY'), '</a:t>
            </a:r>
            <a:r>
              <a:rPr lang="en-US" sz="2400" dirty="0" err="1"/>
              <a:t>fmDay</a:t>
            </a:r>
            <a:r>
              <a:rPr lang="en-US" sz="2400" dirty="0"/>
              <a:t>, Month </a:t>
            </a:r>
            <a:r>
              <a:rPr lang="en-US" sz="2400" dirty="0" err="1"/>
              <a:t>ddth</a:t>
            </a:r>
            <a:r>
              <a:rPr lang="en-US" sz="2400" dirty="0"/>
              <a:t>, YYYY') AS "Next Evaluation" FROM employees WHERE </a:t>
            </a:r>
            <a:r>
              <a:rPr lang="en-US" sz="2400" dirty="0" err="1"/>
              <a:t>employee_id</a:t>
            </a:r>
            <a:r>
              <a:rPr lang="en-US" sz="2400" dirty="0"/>
              <a:t> = 100; </a:t>
            </a:r>
            <a:endParaRPr lang="sr-Latn-BA" sz="2400" dirty="0"/>
          </a:p>
          <a:p>
            <a:pPr>
              <a:buNone/>
            </a:pPr>
            <a:r>
              <a:rPr lang="en-US" sz="2400" dirty="0"/>
              <a:t>Friday, December 18th, 1987 </a:t>
            </a:r>
            <a:endParaRPr lang="sr-Latn-BA" sz="2400" dirty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BA" dirty="0"/>
              <a:t>Funkcije za rad sa NULL vrednostima</a:t>
            </a:r>
            <a:br>
              <a:rPr lang="sr-Latn-BA" dirty="0"/>
            </a:br>
            <a:r>
              <a:rPr lang="sr-Latn-BA" dirty="0"/>
              <a:t>NVL funkcija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sr-Latn-BA" dirty="0"/>
              <a:t>NVL funkcija prikazuje NULL vrednost u zadatu vrednost koja mora biti istog tipa kao u deklaraciji kolone</a:t>
            </a:r>
          </a:p>
          <a:p>
            <a:pPr>
              <a:buNone/>
            </a:pPr>
            <a:r>
              <a:rPr lang="en-US" b="1" dirty="0"/>
              <a:t>NVL (expression 1 value that may contain a null, expression 2 value to substitute for null) </a:t>
            </a:r>
            <a:endParaRPr lang="en-US" dirty="0"/>
          </a:p>
          <a:p>
            <a:pPr>
              <a:buNone/>
            </a:pPr>
            <a:r>
              <a:rPr lang="en-US" dirty="0"/>
              <a:t>SELECT NVL(</a:t>
            </a:r>
            <a:r>
              <a:rPr lang="en-US" dirty="0" err="1"/>
              <a:t>date_of_independence,'No</a:t>
            </a:r>
            <a:r>
              <a:rPr lang="en-US" dirty="0"/>
              <a:t> date')</a:t>
            </a:r>
            <a:r>
              <a:rPr lang="sr-Latn-BA" dirty="0"/>
              <a:t> AS"Independece Day" </a:t>
            </a:r>
            <a:endParaRPr lang="en-US" dirty="0"/>
          </a:p>
          <a:p>
            <a:pPr>
              <a:buNone/>
            </a:pPr>
            <a:r>
              <a:rPr lang="en-US" dirty="0"/>
              <a:t>FROM </a:t>
            </a:r>
            <a:r>
              <a:rPr lang="en-US" dirty="0" err="1"/>
              <a:t>wf_countries</a:t>
            </a:r>
            <a:r>
              <a:rPr lang="en-US" dirty="0"/>
              <a:t>;</a:t>
            </a:r>
            <a:r>
              <a:rPr lang="en-US" b="1" dirty="0"/>
              <a:t>	</a:t>
            </a:r>
            <a:endParaRPr lang="sr-Latn-BA" b="1" dirty="0"/>
          </a:p>
          <a:p>
            <a:pPr>
              <a:buNone/>
            </a:pPr>
            <a:r>
              <a:rPr lang="sr-Latn-BA" dirty="0"/>
              <a:t>Kolona </a:t>
            </a:r>
            <a:r>
              <a:rPr lang="en-US" dirty="0" err="1"/>
              <a:t>date_of_independence</a:t>
            </a:r>
            <a:r>
              <a:rPr lang="sr-Latn-BA" dirty="0"/>
              <a:t> je VARCHAR2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BA" dirty="0"/>
              <a:t>Funkcije za rad sa NULL vrednostima</a:t>
            </a:r>
            <a:br>
              <a:rPr lang="sr-Latn-BA" dirty="0"/>
            </a:br>
            <a:r>
              <a:rPr lang="sr-Latn-BA" dirty="0"/>
              <a:t>NVL funkcija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SELECT </a:t>
            </a:r>
            <a:r>
              <a:rPr lang="en-US" dirty="0" err="1"/>
              <a:t>last_name</a:t>
            </a:r>
            <a:r>
              <a:rPr lang="en-US" dirty="0"/>
              <a:t>, NVL(</a:t>
            </a:r>
            <a:r>
              <a:rPr lang="en-US" dirty="0" err="1"/>
              <a:t>commission_pct</a:t>
            </a:r>
            <a:r>
              <a:rPr lang="en-US" dirty="0"/>
              <a:t>, 0)</a:t>
            </a:r>
          </a:p>
          <a:p>
            <a:pPr>
              <a:buNone/>
            </a:pPr>
            <a:r>
              <a:rPr lang="en-US" dirty="0"/>
              <a:t>FROM employees</a:t>
            </a:r>
          </a:p>
          <a:p>
            <a:pPr>
              <a:buNone/>
            </a:pPr>
            <a:r>
              <a:rPr lang="en-US" dirty="0"/>
              <a:t>WHERE </a:t>
            </a:r>
            <a:r>
              <a:rPr lang="en-US" dirty="0" err="1"/>
              <a:t>department_id</a:t>
            </a:r>
            <a:r>
              <a:rPr lang="sr-Latn-BA" dirty="0"/>
              <a:t> </a:t>
            </a:r>
            <a:r>
              <a:rPr lang="en-US" dirty="0"/>
              <a:t>IN(80,90);	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SELECT </a:t>
            </a:r>
            <a:r>
              <a:rPr lang="en-US" dirty="0" err="1"/>
              <a:t>country_name</a:t>
            </a:r>
            <a:r>
              <a:rPr lang="en-US" dirty="0"/>
              <a:t>, NVL(</a:t>
            </a:r>
            <a:r>
              <a:rPr lang="en-US" dirty="0" err="1"/>
              <a:t>internet_extension</a:t>
            </a:r>
            <a:r>
              <a:rPr lang="en-US" dirty="0"/>
              <a:t>, 'None') </a:t>
            </a:r>
          </a:p>
          <a:p>
            <a:pPr>
              <a:buNone/>
            </a:pPr>
            <a:r>
              <a:rPr lang="en-US" dirty="0"/>
              <a:t>AS "Internet </a:t>
            </a:r>
            <a:r>
              <a:rPr lang="en-US" dirty="0" err="1"/>
              <a:t>extn</a:t>
            </a:r>
            <a:r>
              <a:rPr lang="en-US" dirty="0"/>
              <a:t>"</a:t>
            </a:r>
          </a:p>
          <a:p>
            <a:pPr>
              <a:buNone/>
            </a:pPr>
            <a:r>
              <a:rPr lang="en-US" dirty="0"/>
              <a:t>FROM </a:t>
            </a:r>
            <a:r>
              <a:rPr lang="en-US" dirty="0" err="1"/>
              <a:t>wf_countries</a:t>
            </a:r>
            <a:endParaRPr lang="en-US" dirty="0"/>
          </a:p>
          <a:p>
            <a:pPr>
              <a:buNone/>
            </a:pPr>
            <a:r>
              <a:rPr lang="en-US" dirty="0"/>
              <a:t>WHERE location = 'Southern Africa'</a:t>
            </a:r>
          </a:p>
          <a:p>
            <a:pPr>
              <a:buNone/>
            </a:pPr>
            <a:r>
              <a:rPr lang="en-US" dirty="0"/>
              <a:t>ORDER BY </a:t>
            </a:r>
            <a:r>
              <a:rPr lang="en-US" dirty="0" err="1"/>
              <a:t>internet_extensionDESC</a:t>
            </a:r>
            <a:r>
              <a:rPr lang="en-US" b="1" dirty="0"/>
              <a:t>;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BA" dirty="0"/>
              <a:t>Funkcije za rad sa NULL vrednostima</a:t>
            </a:r>
            <a:br>
              <a:rPr lang="sr-Latn-BA" dirty="0"/>
            </a:br>
            <a:r>
              <a:rPr lang="sr-Latn-BA" dirty="0"/>
              <a:t>NVL funkcija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dirty="0"/>
              <a:t>NVL funkcija se često koristi da omogući aritmetičke operacije sa numeričkim vrednostima neke kolone.  Najčešće se NULL vrednost zameni sa 0</a:t>
            </a:r>
            <a:endParaRPr lang="en-US" dirty="0"/>
          </a:p>
          <a:p>
            <a:pPr>
              <a:buNone/>
            </a:pPr>
            <a:r>
              <a:rPr lang="en-US" dirty="0"/>
              <a:t>SELECT </a:t>
            </a:r>
            <a:r>
              <a:rPr lang="en-US" dirty="0" err="1"/>
              <a:t>last_name</a:t>
            </a:r>
            <a:r>
              <a:rPr lang="en-US" dirty="0"/>
              <a:t>, NVL(</a:t>
            </a:r>
            <a:r>
              <a:rPr lang="en-US" dirty="0" err="1"/>
              <a:t>commission_pct</a:t>
            </a:r>
            <a:r>
              <a:rPr lang="en-US" dirty="0"/>
              <a:t>, 0)*250</a:t>
            </a:r>
          </a:p>
          <a:p>
            <a:pPr>
              <a:buNone/>
            </a:pPr>
            <a:r>
              <a:rPr lang="en-US" dirty="0"/>
              <a:t>AS "Commission"</a:t>
            </a:r>
          </a:p>
          <a:p>
            <a:pPr>
              <a:buNone/>
            </a:pPr>
            <a:r>
              <a:rPr lang="en-US" dirty="0"/>
              <a:t>FROM employees</a:t>
            </a:r>
          </a:p>
          <a:p>
            <a:pPr>
              <a:buNone/>
            </a:pPr>
            <a:r>
              <a:rPr lang="en-US" dirty="0"/>
              <a:t>WHERE </a:t>
            </a:r>
            <a:r>
              <a:rPr lang="en-US" dirty="0" err="1"/>
              <a:t>department_id</a:t>
            </a:r>
            <a:r>
              <a:rPr lang="sr-Latn-BA" dirty="0"/>
              <a:t> </a:t>
            </a:r>
            <a:r>
              <a:rPr lang="en-US" dirty="0"/>
              <a:t>IN</a:t>
            </a:r>
            <a:r>
              <a:rPr lang="sr-Latn-BA" dirty="0"/>
              <a:t> </a:t>
            </a:r>
            <a:r>
              <a:rPr lang="en-US" dirty="0"/>
              <a:t>(80,90);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BA" dirty="0"/>
              <a:t>Funkcije za rad sa NULL vrednostima</a:t>
            </a:r>
            <a:br>
              <a:rPr lang="sr-Latn-BA" dirty="0"/>
            </a:br>
            <a:r>
              <a:rPr lang="sr-Latn-BA" dirty="0"/>
              <a:t>NVL2 funkcija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sr-Latn-BA" dirty="0"/>
              <a:t>NVL2 funkcija ima tri parametra.  Ako vrednost prvog parametra nije NULL, vraća se vrednost drugog parametra, ako jeste, vraća se vrednost trećeg parametra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NVL2 </a:t>
            </a:r>
            <a:r>
              <a:rPr lang="en-US" dirty="0"/>
              <a:t>(expression 1 value that may contain a null, expression 2 value to return if expression 1 is not null, expression 3 value to replace if expression 1 is null)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BA" dirty="0"/>
              <a:t>Funkcije za rad sa NULL vrednostima</a:t>
            </a:r>
            <a:br>
              <a:rPr lang="sr-Latn-BA" dirty="0"/>
            </a:br>
            <a:r>
              <a:rPr lang="sr-Latn-BA" dirty="0"/>
              <a:t>NVL2 funkcija primer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SELECT </a:t>
            </a:r>
            <a:r>
              <a:rPr lang="en-US" dirty="0" err="1"/>
              <a:t>last_name</a:t>
            </a:r>
            <a:r>
              <a:rPr lang="en-US" dirty="0"/>
              <a:t>, salary, </a:t>
            </a:r>
          </a:p>
          <a:p>
            <a:pPr>
              <a:buNone/>
            </a:pPr>
            <a:r>
              <a:rPr lang="en-US" dirty="0"/>
              <a:t>NVL2(</a:t>
            </a:r>
            <a:r>
              <a:rPr lang="en-US" dirty="0" err="1"/>
              <a:t>commission_pct</a:t>
            </a:r>
            <a:r>
              <a:rPr lang="en-US" dirty="0"/>
              <a:t>, salary + (salary * </a:t>
            </a:r>
            <a:r>
              <a:rPr lang="en-US" dirty="0" err="1"/>
              <a:t>commission_pct</a:t>
            </a:r>
            <a:r>
              <a:rPr lang="en-US" dirty="0"/>
              <a:t>), salary) </a:t>
            </a:r>
          </a:p>
          <a:p>
            <a:pPr>
              <a:buNone/>
            </a:pPr>
            <a:r>
              <a:rPr lang="en-US" dirty="0"/>
              <a:t>AS income</a:t>
            </a:r>
          </a:p>
          <a:p>
            <a:pPr>
              <a:buNone/>
            </a:pPr>
            <a:r>
              <a:rPr lang="en-US" dirty="0"/>
              <a:t>FROM employees</a:t>
            </a:r>
          </a:p>
          <a:p>
            <a:pPr>
              <a:buNone/>
            </a:pPr>
            <a:r>
              <a:rPr lang="en-US" dirty="0"/>
              <a:t>WHERE </a:t>
            </a:r>
            <a:r>
              <a:rPr lang="en-US" dirty="0" err="1"/>
              <a:t>department_id</a:t>
            </a:r>
            <a:r>
              <a:rPr lang="sr-Latn-BA" dirty="0"/>
              <a:t> </a:t>
            </a:r>
            <a:r>
              <a:rPr lang="en-US" dirty="0"/>
              <a:t>IN(80,90);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BA" dirty="0"/>
              <a:t>Funkcije za rad sa NULL vrednostima</a:t>
            </a:r>
            <a:br>
              <a:rPr lang="sr-Latn-BA" dirty="0"/>
            </a:br>
            <a:r>
              <a:rPr lang="sr-Latn-BA" dirty="0"/>
              <a:t>NULLIF funkcija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BA" dirty="0"/>
              <a:t>NULLIF funkcija poredi vrednosti dva argumenta. Ako su jednake vraća NULL, ako nisu vraća vrednost prvog argumenta</a:t>
            </a:r>
            <a:endParaRPr lang="en-US" dirty="0"/>
          </a:p>
          <a:p>
            <a:pPr>
              <a:buNone/>
            </a:pPr>
            <a:r>
              <a:rPr lang="en-US" b="1" dirty="0"/>
              <a:t>NULLIF(expression 1, expression 2)</a:t>
            </a:r>
            <a:endParaRPr lang="sr-Latn-BA" b="1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SELECT </a:t>
            </a:r>
            <a:r>
              <a:rPr lang="en-US" dirty="0" err="1"/>
              <a:t>first_name</a:t>
            </a:r>
            <a:r>
              <a:rPr lang="en-US" dirty="0"/>
              <a:t>, LENGTH(</a:t>
            </a:r>
            <a:r>
              <a:rPr lang="en-US" dirty="0" err="1"/>
              <a:t>first_name</a:t>
            </a:r>
            <a:r>
              <a:rPr lang="en-US" dirty="0"/>
              <a:t>) AS "Length FN", </a:t>
            </a:r>
            <a:r>
              <a:rPr lang="en-US" dirty="0" err="1"/>
              <a:t>last_name</a:t>
            </a:r>
            <a:r>
              <a:rPr lang="en-US" dirty="0"/>
              <a:t>, </a:t>
            </a:r>
          </a:p>
          <a:p>
            <a:pPr>
              <a:buNone/>
            </a:pPr>
            <a:r>
              <a:rPr lang="en-US" dirty="0"/>
              <a:t>LENGTH(</a:t>
            </a:r>
            <a:r>
              <a:rPr lang="en-US" dirty="0" err="1"/>
              <a:t>last_name</a:t>
            </a:r>
            <a:r>
              <a:rPr lang="en-US" dirty="0"/>
              <a:t>) AS "Length LN", NULLIF(LENGTH(</a:t>
            </a:r>
            <a:r>
              <a:rPr lang="en-US" dirty="0" err="1"/>
              <a:t>first_name</a:t>
            </a:r>
            <a:r>
              <a:rPr lang="en-US" dirty="0"/>
              <a:t>), </a:t>
            </a:r>
          </a:p>
          <a:p>
            <a:pPr>
              <a:buNone/>
            </a:pPr>
            <a:r>
              <a:rPr lang="en-US" dirty="0"/>
              <a:t>LENGTH(</a:t>
            </a:r>
            <a:r>
              <a:rPr lang="en-US" dirty="0" err="1"/>
              <a:t>last_name</a:t>
            </a:r>
            <a:r>
              <a:rPr lang="en-US" dirty="0"/>
              <a:t>)) AS "Compare Them"</a:t>
            </a:r>
          </a:p>
          <a:p>
            <a:pPr>
              <a:buNone/>
            </a:pPr>
            <a:r>
              <a:rPr lang="en-US" dirty="0"/>
              <a:t>FROM employees;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COALESCE </a:t>
            </a:r>
            <a:r>
              <a:rPr lang="sr-Latn-BA" dirty="0"/>
              <a:t> funkcija ima više parametara. Vraća prvu vrednost koja nije NULL</a:t>
            </a:r>
          </a:p>
          <a:p>
            <a:pPr>
              <a:buNone/>
            </a:pPr>
            <a:r>
              <a:rPr lang="fr-FR" b="1" dirty="0"/>
              <a:t>COALESCE (expression 1, expression 2, ...expression n) </a:t>
            </a:r>
            <a:endParaRPr lang="sr-Latn-BA" b="1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SELECT </a:t>
            </a:r>
            <a:r>
              <a:rPr lang="en-US" dirty="0" err="1"/>
              <a:t>last_name</a:t>
            </a:r>
            <a:r>
              <a:rPr lang="en-US" dirty="0"/>
              <a:t>, </a:t>
            </a:r>
          </a:p>
          <a:p>
            <a:pPr>
              <a:buNone/>
            </a:pPr>
            <a:r>
              <a:rPr lang="en-US" dirty="0"/>
              <a:t>COALESCE(</a:t>
            </a:r>
            <a:r>
              <a:rPr lang="en-US" dirty="0" err="1"/>
              <a:t>commission_pct</a:t>
            </a:r>
            <a:r>
              <a:rPr lang="en-US" dirty="0"/>
              <a:t>, salary, 10) </a:t>
            </a:r>
          </a:p>
          <a:p>
            <a:pPr>
              <a:buNone/>
            </a:pPr>
            <a:r>
              <a:rPr lang="en-US" dirty="0"/>
              <a:t>AS "</a:t>
            </a:r>
            <a:r>
              <a:rPr lang="en-US" dirty="0" err="1"/>
              <a:t>Comm</a:t>
            </a:r>
            <a:r>
              <a:rPr lang="en-US" dirty="0"/>
              <a:t>"</a:t>
            </a:r>
          </a:p>
          <a:p>
            <a:pPr>
              <a:buNone/>
            </a:pPr>
            <a:r>
              <a:rPr lang="en-US" dirty="0"/>
              <a:t>FROM employees</a:t>
            </a:r>
          </a:p>
          <a:p>
            <a:pPr>
              <a:buNone/>
            </a:pPr>
            <a:r>
              <a:rPr lang="en-US" dirty="0"/>
              <a:t>ORDER BY </a:t>
            </a:r>
            <a:r>
              <a:rPr lang="en-US" dirty="0" err="1"/>
              <a:t>commission_pct</a:t>
            </a:r>
            <a:r>
              <a:rPr lang="en-US" dirty="0"/>
              <a:t>;</a:t>
            </a:r>
            <a:endParaRPr lang="sr-Latn-BA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BA" dirty="0"/>
              <a:t>Funkcije za rad sa NULL vrednostima</a:t>
            </a:r>
            <a:br>
              <a:rPr lang="sr-Latn-BA" dirty="0"/>
            </a:br>
            <a:r>
              <a:rPr lang="sr-Latn-BA" dirty="0"/>
              <a:t>COALESCE funkcija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Domaći zadatak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2000" dirty="0" err="1"/>
              <a:t>Ispisati</a:t>
            </a:r>
            <a:r>
              <a:rPr lang="en-US" sz="2000" dirty="0"/>
              <a:t> </a:t>
            </a:r>
            <a:r>
              <a:rPr lang="en-US" sz="2000" dirty="0" err="1"/>
              <a:t>prezimena</a:t>
            </a:r>
            <a:r>
              <a:rPr lang="en-US" sz="2000" dirty="0"/>
              <a:t> (</a:t>
            </a:r>
            <a:r>
              <a:rPr lang="en-US" sz="2000" dirty="0" err="1"/>
              <a:t>last_name</a:t>
            </a:r>
            <a:r>
              <a:rPr lang="en-US" sz="2000" dirty="0"/>
              <a:t>) </a:t>
            </a:r>
            <a:r>
              <a:rPr lang="en-US" sz="2000" dirty="0" err="1"/>
              <a:t>i</a:t>
            </a:r>
            <a:r>
              <a:rPr lang="en-US" sz="2000" dirty="0"/>
              <a:t> datum </a:t>
            </a:r>
            <a:r>
              <a:rPr lang="en-US" sz="2000" dirty="0" err="1"/>
              <a:t>rođenja</a:t>
            </a:r>
            <a:r>
              <a:rPr lang="en-US" sz="2000" dirty="0"/>
              <a:t> (birthday) </a:t>
            </a:r>
            <a:r>
              <a:rPr lang="en-US" sz="2000" dirty="0" err="1"/>
              <a:t>zaposlenih</a:t>
            </a:r>
            <a:r>
              <a:rPr lang="en-US" sz="2000" dirty="0"/>
              <a:t> u Global Fast Food u </a:t>
            </a:r>
            <a:r>
              <a:rPr lang="en-US" sz="2000" dirty="0" err="1"/>
              <a:t>obliku</a:t>
            </a:r>
            <a:r>
              <a:rPr lang="en-US" sz="2000" dirty="0"/>
              <a:t> Month DD, YYYY </a:t>
            </a:r>
            <a:r>
              <a:rPr lang="en-US" sz="2000" dirty="0" err="1"/>
              <a:t>bez</a:t>
            </a:r>
            <a:r>
              <a:rPr lang="en-US" sz="2000" dirty="0"/>
              <a:t> </a:t>
            </a:r>
            <a:r>
              <a:rPr lang="en-US" sz="2000" dirty="0" err="1"/>
              <a:t>vodećih</a:t>
            </a:r>
            <a:r>
              <a:rPr lang="en-US" sz="2000" dirty="0"/>
              <a:t> </a:t>
            </a:r>
            <a:r>
              <a:rPr lang="en-US" sz="2000" dirty="0" err="1"/>
              <a:t>nula</a:t>
            </a:r>
            <a:r>
              <a:rPr lang="en-US" sz="2000" dirty="0"/>
              <a:t>, </a:t>
            </a:r>
            <a:r>
              <a:rPr lang="en-US" sz="2000" dirty="0" err="1"/>
              <a:t>za</a:t>
            </a:r>
            <a:r>
              <a:rPr lang="en-US" sz="2000" dirty="0"/>
              <a:t> </a:t>
            </a:r>
            <a:r>
              <a:rPr lang="en-US" sz="2000" dirty="0" err="1"/>
              <a:t>zaposlene</a:t>
            </a:r>
            <a:r>
              <a:rPr lang="en-US" sz="2000" dirty="0"/>
              <a:t> </a:t>
            </a:r>
            <a:r>
              <a:rPr lang="en-US" sz="2000" dirty="0" err="1"/>
              <a:t>rođene</a:t>
            </a:r>
            <a:r>
              <a:rPr lang="en-US" sz="2000" dirty="0"/>
              <a:t> </a:t>
            </a:r>
            <a:r>
              <a:rPr lang="en-US" sz="2000" dirty="0" err="1"/>
              <a:t>posle</a:t>
            </a:r>
            <a:r>
              <a:rPr lang="en-US" sz="2000" dirty="0"/>
              <a:t> 1970. </a:t>
            </a:r>
            <a:r>
              <a:rPr lang="en-US" sz="2000" dirty="0" err="1"/>
              <a:t>godine</a:t>
            </a:r>
            <a:r>
              <a:rPr lang="en-US" sz="2000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dirty="0" err="1"/>
              <a:t>Ispisati</a:t>
            </a:r>
            <a:r>
              <a:rPr lang="en-US" sz="2000" dirty="0"/>
              <a:t> ID, </a:t>
            </a:r>
            <a:r>
              <a:rPr lang="en-US" sz="2000" dirty="0" err="1"/>
              <a:t>ime</a:t>
            </a:r>
            <a:r>
              <a:rPr lang="en-US" sz="2000" dirty="0"/>
              <a:t> (name)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platu</a:t>
            </a:r>
            <a:r>
              <a:rPr lang="en-US" sz="2000" dirty="0"/>
              <a:t> (salary) </a:t>
            </a:r>
            <a:r>
              <a:rPr lang="en-US" sz="2000" dirty="0" err="1"/>
              <a:t>za</a:t>
            </a:r>
            <a:r>
              <a:rPr lang="en-US" sz="2000" dirty="0"/>
              <a:t> </a:t>
            </a:r>
            <a:r>
              <a:rPr lang="en-US" sz="2000" dirty="0" err="1"/>
              <a:t>zaposlene</a:t>
            </a:r>
            <a:r>
              <a:rPr lang="en-US" sz="2000" dirty="0"/>
              <a:t> u Global Fast Foods. </a:t>
            </a:r>
            <a:r>
              <a:rPr lang="en-US" sz="2000" dirty="0" err="1"/>
              <a:t>Platu</a:t>
            </a:r>
            <a:r>
              <a:rPr lang="en-US" sz="2000" dirty="0"/>
              <a:t> </a:t>
            </a:r>
            <a:r>
              <a:rPr lang="en-US" sz="2000" dirty="0" err="1"/>
              <a:t>ispisati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dve</a:t>
            </a:r>
            <a:r>
              <a:rPr lang="en-US" sz="2000" dirty="0"/>
              <a:t> </a:t>
            </a:r>
            <a:r>
              <a:rPr lang="en-US" sz="2000" dirty="0" err="1"/>
              <a:t>decimale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vodećim</a:t>
            </a:r>
            <a:r>
              <a:rPr lang="en-US" sz="2000" dirty="0"/>
              <a:t> </a:t>
            </a:r>
            <a:r>
              <a:rPr lang="en-US" sz="2000" dirty="0" err="1"/>
              <a:t>znakom</a:t>
            </a:r>
            <a:r>
              <a:rPr lang="en-US" sz="2000" dirty="0"/>
              <a:t> $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000" dirty="0" err="1"/>
              <a:t>Kreirati</a:t>
            </a:r>
            <a:r>
              <a:rPr lang="en-US" sz="2000" dirty="0"/>
              <a:t> </a:t>
            </a:r>
            <a:r>
              <a:rPr lang="en-US" sz="2000" dirty="0" err="1"/>
              <a:t>izveštaj</a:t>
            </a:r>
            <a:r>
              <a:rPr lang="en-US" sz="2000" dirty="0"/>
              <a:t> </a:t>
            </a:r>
            <a:r>
              <a:rPr lang="en-US" sz="2000" dirty="0" err="1"/>
              <a:t>za</a:t>
            </a:r>
            <a:r>
              <a:rPr lang="en-US" sz="2000" dirty="0"/>
              <a:t> Global Fast Foods </a:t>
            </a:r>
            <a:r>
              <a:rPr lang="en-US" sz="2000" dirty="0" err="1"/>
              <a:t>koji</a:t>
            </a:r>
            <a:r>
              <a:rPr lang="en-US" sz="2000" dirty="0"/>
              <a:t> </a:t>
            </a:r>
            <a:r>
              <a:rPr lang="en-US" sz="2000" dirty="0" err="1"/>
              <a:t>iz</a:t>
            </a:r>
            <a:r>
              <a:rPr lang="en-US" sz="2000" dirty="0"/>
              <a:t> </a:t>
            </a:r>
            <a:r>
              <a:rPr lang="en-US" sz="2000" dirty="0" err="1"/>
              <a:t>tabele</a:t>
            </a:r>
            <a:r>
              <a:rPr lang="en-US" sz="2000" dirty="0"/>
              <a:t> </a:t>
            </a:r>
            <a:r>
              <a:rPr lang="en-US" sz="2000" dirty="0" err="1"/>
              <a:t>f_promotional_menus</a:t>
            </a:r>
            <a:r>
              <a:rPr lang="en-US" sz="2000" dirty="0"/>
              <a:t> </a:t>
            </a:r>
            <a:r>
              <a:rPr lang="en-US" sz="2000" dirty="0" err="1"/>
              <a:t>prikazuje</a:t>
            </a:r>
            <a:r>
              <a:rPr lang="en-US" sz="2000" dirty="0"/>
              <a:t> </a:t>
            </a:r>
            <a:r>
              <a:rPr lang="en-US" sz="2000" dirty="0" err="1"/>
              <a:t>naziv</a:t>
            </a:r>
            <a:r>
              <a:rPr lang="en-US" sz="2000" dirty="0"/>
              <a:t> </a:t>
            </a:r>
            <a:r>
              <a:rPr lang="en-US" sz="2000" dirty="0" err="1"/>
              <a:t>promocije</a:t>
            </a:r>
            <a:r>
              <a:rPr lang="en-US" sz="2000" dirty="0"/>
              <a:t> (name) </a:t>
            </a:r>
            <a:r>
              <a:rPr lang="en-US" sz="2000" dirty="0" err="1"/>
              <a:t>i</a:t>
            </a:r>
            <a:r>
              <a:rPr lang="en-US" sz="2000" dirty="0"/>
              <a:t> datum </a:t>
            </a:r>
            <a:r>
              <a:rPr lang="en-US" sz="2000" dirty="0" err="1"/>
              <a:t>završetka</a:t>
            </a:r>
            <a:r>
              <a:rPr lang="en-US" sz="2000" dirty="0"/>
              <a:t> (</a:t>
            </a:r>
            <a:r>
              <a:rPr lang="en-US" sz="2000" dirty="0" err="1"/>
              <a:t>end_date</a:t>
            </a:r>
            <a:r>
              <a:rPr lang="en-US" sz="2000" dirty="0"/>
              <a:t>). </a:t>
            </a:r>
            <a:r>
              <a:rPr lang="en-US" sz="2000" dirty="0" err="1"/>
              <a:t>Ako</a:t>
            </a:r>
            <a:r>
              <a:rPr lang="en-US" sz="2000" dirty="0"/>
              <a:t> je datum </a:t>
            </a:r>
            <a:r>
              <a:rPr lang="en-US" sz="2000" dirty="0" err="1"/>
              <a:t>završetka</a:t>
            </a:r>
            <a:r>
              <a:rPr lang="en-US" sz="2000" dirty="0"/>
              <a:t> </a:t>
            </a:r>
            <a:r>
              <a:rPr lang="en-US" sz="2000" dirty="0" err="1"/>
              <a:t>promocije</a:t>
            </a:r>
            <a:r>
              <a:rPr lang="en-US" sz="2000" dirty="0"/>
              <a:t> </a:t>
            </a:r>
            <a:r>
              <a:rPr lang="en-US" sz="2000" dirty="0" err="1"/>
              <a:t>naveden</a:t>
            </a:r>
            <a:r>
              <a:rPr lang="en-US" sz="2000" dirty="0"/>
              <a:t>, </a:t>
            </a:r>
            <a:r>
              <a:rPr lang="en-US" sz="2000" dirty="0" err="1"/>
              <a:t>prikazati</a:t>
            </a:r>
            <a:r>
              <a:rPr lang="en-US" sz="2000" dirty="0"/>
              <a:t> datum </a:t>
            </a:r>
            <a:r>
              <a:rPr lang="en-US" sz="2000" dirty="0" err="1"/>
              <a:t>za</a:t>
            </a:r>
            <a:r>
              <a:rPr lang="en-US" sz="2000" dirty="0"/>
              <a:t> </a:t>
            </a:r>
            <a:r>
              <a:rPr lang="en-US" sz="2000" dirty="0" err="1"/>
              <a:t>mesec</a:t>
            </a:r>
            <a:r>
              <a:rPr lang="en-US" sz="2000" dirty="0"/>
              <a:t> </a:t>
            </a:r>
            <a:r>
              <a:rPr lang="en-US" sz="2000" dirty="0" err="1"/>
              <a:t>dana</a:t>
            </a:r>
            <a:r>
              <a:rPr lang="en-US" sz="2000" dirty="0"/>
              <a:t>, a </a:t>
            </a:r>
            <a:r>
              <a:rPr lang="en-US" sz="2000" dirty="0" err="1"/>
              <a:t>ako</a:t>
            </a:r>
            <a:r>
              <a:rPr lang="en-US" sz="2000" dirty="0"/>
              <a:t> </a:t>
            </a:r>
            <a:r>
              <a:rPr lang="en-US" sz="2000" dirty="0" err="1"/>
              <a:t>nije</a:t>
            </a:r>
            <a:r>
              <a:rPr lang="en-US" sz="2000" dirty="0"/>
              <a:t> </a:t>
            </a:r>
            <a:r>
              <a:rPr lang="en-US" sz="2000" dirty="0" err="1"/>
              <a:t>prikazati</a:t>
            </a:r>
            <a:r>
              <a:rPr lang="en-US" sz="2000" dirty="0"/>
              <a:t> </a:t>
            </a:r>
            <a:r>
              <a:rPr lang="en-US" sz="2000" dirty="0" err="1"/>
              <a:t>današnji</a:t>
            </a:r>
            <a:r>
              <a:rPr lang="en-US" sz="2000" dirty="0"/>
              <a:t> datum.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 err="1"/>
              <a:t>Ispisati</a:t>
            </a:r>
            <a:r>
              <a:rPr lang="en-US" sz="2000" dirty="0"/>
              <a:t> </a:t>
            </a:r>
            <a:r>
              <a:rPr lang="en-US" sz="2000" dirty="0" err="1"/>
              <a:t>prezimena</a:t>
            </a:r>
            <a:r>
              <a:rPr lang="en-US" sz="2000" dirty="0"/>
              <a:t> (</a:t>
            </a:r>
            <a:r>
              <a:rPr lang="en-US" sz="2000" dirty="0" err="1"/>
              <a:t>last_name</a:t>
            </a:r>
            <a:r>
              <a:rPr lang="en-US" sz="2000" dirty="0"/>
              <a:t>)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platu</a:t>
            </a:r>
            <a:r>
              <a:rPr lang="en-US" sz="2000" dirty="0"/>
              <a:t> </a:t>
            </a:r>
            <a:r>
              <a:rPr lang="en-US" sz="2000" dirty="0" err="1"/>
              <a:t>za</a:t>
            </a:r>
            <a:r>
              <a:rPr lang="en-US" sz="2000" dirty="0"/>
              <a:t> </a:t>
            </a:r>
            <a:r>
              <a:rPr lang="en-US" sz="2000" dirty="0" err="1"/>
              <a:t>prekovremeni</a:t>
            </a:r>
            <a:r>
              <a:rPr lang="en-US" sz="2000" dirty="0"/>
              <a:t> </a:t>
            </a:r>
            <a:r>
              <a:rPr lang="en-US" sz="2000" dirty="0" err="1"/>
              <a:t>rad</a:t>
            </a:r>
            <a:r>
              <a:rPr lang="en-US" sz="2000" dirty="0"/>
              <a:t> (</a:t>
            </a:r>
            <a:r>
              <a:rPr lang="en-US" sz="2000" dirty="0" err="1"/>
              <a:t>overtime_rate</a:t>
            </a:r>
            <a:r>
              <a:rPr lang="en-US" sz="2000" dirty="0"/>
              <a:t>) </a:t>
            </a:r>
            <a:r>
              <a:rPr lang="en-US" sz="2000" dirty="0" err="1"/>
              <a:t>za</a:t>
            </a:r>
            <a:r>
              <a:rPr lang="en-US" sz="2000" dirty="0"/>
              <a:t> </a:t>
            </a:r>
            <a:r>
              <a:rPr lang="en-US" sz="2000" dirty="0" err="1"/>
              <a:t>zaposlene</a:t>
            </a:r>
            <a:r>
              <a:rPr lang="en-US" sz="2000" dirty="0"/>
              <a:t> (</a:t>
            </a:r>
            <a:r>
              <a:rPr lang="en-US" sz="2000" dirty="0" err="1"/>
              <a:t>f_staffs</a:t>
            </a:r>
            <a:r>
              <a:rPr lang="en-US" sz="2000" dirty="0"/>
              <a:t>) u Global Fast Foods. </a:t>
            </a:r>
            <a:r>
              <a:rPr lang="en-US" sz="2000" dirty="0" err="1"/>
              <a:t>Za</a:t>
            </a:r>
            <a:r>
              <a:rPr lang="en-US" sz="2000" dirty="0"/>
              <a:t> one </a:t>
            </a:r>
            <a:r>
              <a:rPr lang="en-US" sz="2000" dirty="0" err="1"/>
              <a:t>koji</a:t>
            </a:r>
            <a:r>
              <a:rPr lang="en-US" sz="2000" dirty="0"/>
              <a:t> </a:t>
            </a:r>
            <a:r>
              <a:rPr lang="en-US" sz="2000" dirty="0" err="1"/>
              <a:t>nemaju</a:t>
            </a:r>
            <a:r>
              <a:rPr lang="en-US" sz="2000" dirty="0"/>
              <a:t> </a:t>
            </a:r>
            <a:r>
              <a:rPr lang="en-US" sz="2000" dirty="0" err="1"/>
              <a:t>iznos</a:t>
            </a:r>
            <a:r>
              <a:rPr lang="en-US" sz="2000" dirty="0"/>
              <a:t> </a:t>
            </a:r>
            <a:r>
              <a:rPr lang="en-US" sz="2000" dirty="0" err="1"/>
              <a:t>za</a:t>
            </a:r>
            <a:r>
              <a:rPr lang="en-US" sz="2000" dirty="0"/>
              <a:t> </a:t>
            </a:r>
            <a:r>
              <a:rPr lang="en-US" sz="2000" dirty="0" err="1"/>
              <a:t>prekovremeni</a:t>
            </a:r>
            <a:r>
              <a:rPr lang="en-US" sz="2000" dirty="0"/>
              <a:t> </a:t>
            </a:r>
            <a:r>
              <a:rPr lang="en-US" sz="2000" dirty="0" err="1"/>
              <a:t>rad</a:t>
            </a:r>
            <a:r>
              <a:rPr lang="en-US" sz="2000" dirty="0"/>
              <a:t> </a:t>
            </a:r>
            <a:r>
              <a:rPr lang="en-US" sz="2000" dirty="0" err="1"/>
              <a:t>ispisati</a:t>
            </a:r>
            <a:r>
              <a:rPr lang="en-US" sz="2000" dirty="0"/>
              <a:t> 0. U </a:t>
            </a:r>
            <a:r>
              <a:rPr lang="en-US" sz="2000" dirty="0" err="1"/>
              <a:t>zaglavlju</a:t>
            </a:r>
            <a:r>
              <a:rPr lang="en-US" sz="2000" dirty="0"/>
              <a:t> </a:t>
            </a:r>
            <a:r>
              <a:rPr lang="en-US" sz="2000" dirty="0" err="1"/>
              <a:t>kolone</a:t>
            </a:r>
            <a:r>
              <a:rPr lang="en-US" sz="2000" dirty="0"/>
              <a:t> </a:t>
            </a:r>
            <a:r>
              <a:rPr lang="en-US" sz="2000" dirty="0" err="1"/>
              <a:t>ispisati</a:t>
            </a:r>
            <a:r>
              <a:rPr lang="en-US" sz="2000" dirty="0"/>
              <a:t> “Overtime </a:t>
            </a:r>
            <a:r>
              <a:rPr lang="en-US" sz="2000" dirty="0" err="1"/>
              <a:t>status”a</a:t>
            </a:r>
            <a:r>
              <a:rPr lang="en-US" sz="2000" dirty="0"/>
              <a:t> </a:t>
            </a:r>
            <a:r>
              <a:rPr lang="en-US" sz="2000" dirty="0" err="1"/>
              <a:t>iznos</a:t>
            </a:r>
            <a:r>
              <a:rPr lang="en-US" sz="2000" dirty="0"/>
              <a:t> </a:t>
            </a:r>
            <a:r>
              <a:rPr lang="en-US" sz="2000" dirty="0" err="1"/>
              <a:t>ispisati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dve</a:t>
            </a:r>
            <a:r>
              <a:rPr lang="en-US" sz="2000" dirty="0"/>
              <a:t> </a:t>
            </a:r>
            <a:r>
              <a:rPr lang="en-US" sz="2000" dirty="0" err="1"/>
              <a:t>decimale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vodećim</a:t>
            </a:r>
            <a:r>
              <a:rPr lang="en-US" sz="2000" dirty="0"/>
              <a:t> </a:t>
            </a:r>
            <a:r>
              <a:rPr lang="en-US" sz="2000" dirty="0" err="1"/>
              <a:t>znakom</a:t>
            </a:r>
            <a:r>
              <a:rPr lang="en-US" sz="2000" dirty="0"/>
              <a:t> $</a:t>
            </a:r>
          </a:p>
          <a:p>
            <a:pPr marL="514350" lvl="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1450</Words>
  <Application>Microsoft Office PowerPoint</Application>
  <PresentationFormat>On-screen Show (4:3)</PresentationFormat>
  <Paragraphs>179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Funkcije konverzije</vt:lpstr>
      <vt:lpstr>Funkcije konverzije</vt:lpstr>
      <vt:lpstr>Funkcije konverzije datum u string</vt:lpstr>
      <vt:lpstr>Funkcije konverzije  datum u string - primeri</vt:lpstr>
      <vt:lpstr>Funkcije konverzije  datum u string - primeri</vt:lpstr>
      <vt:lpstr>Funkcije konverzije  numerički podatak u string</vt:lpstr>
      <vt:lpstr>Funkcije konverzije numerički podatak u string</vt:lpstr>
      <vt:lpstr>Funkcije konverzije znakovni u numerički podatak</vt:lpstr>
      <vt:lpstr>Funkcije konverzije string u datum</vt:lpstr>
      <vt:lpstr>Funkcije konverzije string u datum YY i RR</vt:lpstr>
      <vt:lpstr>Funkcije konverzije string u datum YY i RR primeri</vt:lpstr>
      <vt:lpstr>Kombinovanje funkcija za manipulaciju podataka i funkcija konverzije</vt:lpstr>
      <vt:lpstr>Funkcije za rad sa NULL vrednostima NVL funkcija</vt:lpstr>
      <vt:lpstr>Funkcije za rad sa NULL vrednostima NVL funkcija</vt:lpstr>
      <vt:lpstr>Funkcije za rad sa NULL vrednostima NVL funkcija</vt:lpstr>
      <vt:lpstr>Funkcije za rad sa NULL vrednostima NVL2 funkcija</vt:lpstr>
      <vt:lpstr>Funkcije za rad sa NULL vrednostima NVL2 funkcija primer</vt:lpstr>
      <vt:lpstr>Funkcije za rad sa NULL vrednostima NULLIF funkcija</vt:lpstr>
      <vt:lpstr>Funkcije za rad sa NULL vrednostima COALESCE funkcija</vt:lpstr>
      <vt:lpstr>Domaći zadatak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Funkcije konverzije</dc:title>
  <dc:creator>Vesna Veljkovic</dc:creator>
  <cp:lastModifiedBy>Mladen Živanović</cp:lastModifiedBy>
  <cp:revision>35</cp:revision>
  <dcterms:created xsi:type="dcterms:W3CDTF">2019-02-25T11:23:28Z</dcterms:created>
  <dcterms:modified xsi:type="dcterms:W3CDTF">2025-10-14T09:57:32Z</dcterms:modified>
</cp:coreProperties>
</file>