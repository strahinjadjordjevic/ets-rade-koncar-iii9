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F6FD2-9C17-48B4-9720-6EFAAE12E54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F52DA-9B5F-4307-B9C0-84870BEB30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Funkcije za manipulaciju podacima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sr-Latn-BA" dirty="0"/>
              <a:t>Postoje dve vrste funkcija:</a:t>
            </a:r>
          </a:p>
          <a:p>
            <a:pPr lvl="1"/>
            <a:r>
              <a:rPr lang="en-US" dirty="0"/>
              <a:t>Single-Row</a:t>
            </a:r>
            <a:r>
              <a:rPr lang="sr-Latn-BA" dirty="0"/>
              <a:t> -  funkcije koje kao ulaz imaju jednu vrstu tabele i izlaz je jedan red izveštaja (</a:t>
            </a:r>
            <a:r>
              <a:rPr lang="en-US" dirty="0"/>
              <a:t>SELECT, WHERE,  ORDER BY </a:t>
            </a:r>
            <a:r>
              <a:rPr lang="sr-Latn-BA" dirty="0"/>
              <a:t>)</a:t>
            </a:r>
          </a:p>
          <a:p>
            <a:pPr lvl="1"/>
            <a:r>
              <a:rPr lang="en-US" dirty="0"/>
              <a:t>Multiple-Row</a:t>
            </a:r>
            <a:r>
              <a:rPr lang="sr-Latn-BA" dirty="0"/>
              <a:t> – funkcije koje kao ulaz imaju više vrsta tabele i izlaz je jedan red izveštaja</a:t>
            </a:r>
          </a:p>
          <a:p>
            <a:pPr lvl="1">
              <a:buNone/>
            </a:pPr>
            <a:endParaRPr lang="en-US" dirty="0"/>
          </a:p>
          <a:p>
            <a:r>
              <a:rPr lang="en-US" dirty="0"/>
              <a:t>DUAL tab</a:t>
            </a:r>
            <a:r>
              <a:rPr lang="sr-Cyrl-RS" dirty="0"/>
              <a:t>е</a:t>
            </a:r>
            <a:r>
              <a:rPr lang="en-US" dirty="0"/>
              <a:t>la</a:t>
            </a:r>
            <a:r>
              <a:rPr lang="sr-Latn-BA" dirty="0"/>
              <a:t> je alat koji se koristi da kreiramo  SELECT naredbu  i izvršimo funkciju koja nije direktno vezana za tabelu  iz baze podataka</a:t>
            </a:r>
          </a:p>
          <a:p>
            <a:endParaRPr lang="en-US" dirty="0"/>
          </a:p>
          <a:p>
            <a:pPr>
              <a:buNone/>
            </a:pPr>
            <a:r>
              <a:rPr lang="en-US" sz="2600" dirty="0"/>
              <a:t>SELECT (319/29) + 12</a:t>
            </a:r>
            <a:r>
              <a:rPr lang="sr-Latn-BA" sz="2600" dirty="0"/>
              <a:t>	</a:t>
            </a:r>
            <a:endParaRPr lang="en-US" sz="2600" dirty="0"/>
          </a:p>
          <a:p>
            <a:pPr>
              <a:buNone/>
            </a:pPr>
            <a:r>
              <a:rPr lang="en-US" sz="2600" dirty="0"/>
              <a:t>FROM DUAL;</a:t>
            </a:r>
            <a:endParaRPr lang="sr-Latn-BA" sz="2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48200" y="4800600"/>
          <a:ext cx="2667000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(319/29)+12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sr-Latn-BA" dirty="0"/>
                        <a:t>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karakterima</a:t>
            </a:r>
            <a:br>
              <a:rPr lang="en-US" dirty="0"/>
            </a:br>
            <a:r>
              <a:rPr lang="en-US" dirty="0"/>
              <a:t>Single-Row Character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BA" dirty="0"/>
              <a:t>Dele se u dve kategorije: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Case-manipulation functions </a:t>
            </a:r>
            <a:r>
              <a:rPr lang="sr-Latn-BA" dirty="0"/>
              <a:t>– funkcije koje konvertuju karaktere stringa (</a:t>
            </a:r>
            <a:r>
              <a:rPr lang="en-US" dirty="0"/>
              <a:t>LOWER</a:t>
            </a:r>
            <a:r>
              <a:rPr lang="sr-Latn-BA" dirty="0"/>
              <a:t>, </a:t>
            </a:r>
            <a:r>
              <a:rPr lang="en-US" dirty="0"/>
              <a:t>UPPER</a:t>
            </a:r>
            <a:r>
              <a:rPr lang="sr-Latn-BA" dirty="0"/>
              <a:t>, </a:t>
            </a:r>
            <a:r>
              <a:rPr lang="en-US" dirty="0"/>
              <a:t>INITCAP</a:t>
            </a:r>
            <a:r>
              <a:rPr lang="sr-Latn-BA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Character-manipulation functions </a:t>
            </a:r>
            <a:r>
              <a:rPr lang="sr-Latn-BA" dirty="0"/>
              <a:t> - funkcije koje omogućavaju ekstrakciju, spajanje, promenu formata ili promenu stringa (</a:t>
            </a:r>
            <a:r>
              <a:rPr lang="en-US" dirty="0"/>
              <a:t>CONCAT</a:t>
            </a:r>
            <a:r>
              <a:rPr lang="sr-Latn-BA" dirty="0"/>
              <a:t>, </a:t>
            </a:r>
            <a:r>
              <a:rPr lang="en-US" dirty="0"/>
              <a:t>SUBSTR</a:t>
            </a:r>
            <a:r>
              <a:rPr lang="sr-Latn-BA" dirty="0"/>
              <a:t>, </a:t>
            </a:r>
            <a:r>
              <a:rPr lang="en-US" dirty="0"/>
              <a:t>LENGTH</a:t>
            </a:r>
            <a:r>
              <a:rPr lang="sr-Latn-BA" dirty="0"/>
              <a:t>, </a:t>
            </a:r>
            <a:r>
              <a:rPr lang="en-US" dirty="0"/>
              <a:t>INSTR</a:t>
            </a:r>
            <a:r>
              <a:rPr lang="sr-Latn-BA" dirty="0"/>
              <a:t>, </a:t>
            </a:r>
            <a:r>
              <a:rPr lang="en-US" dirty="0"/>
              <a:t>LPAD | RPAD</a:t>
            </a:r>
            <a:r>
              <a:rPr lang="sr-Latn-BA" dirty="0"/>
              <a:t>, </a:t>
            </a:r>
            <a:r>
              <a:rPr lang="en-US" dirty="0"/>
              <a:t>TRIM</a:t>
            </a:r>
            <a:r>
              <a:rPr lang="sr-Latn-BA" dirty="0"/>
              <a:t>, </a:t>
            </a:r>
            <a:r>
              <a:rPr lang="en-US" dirty="0"/>
              <a:t>REPLACE</a:t>
            </a:r>
            <a:r>
              <a:rPr lang="sr-Latn-BA" dirty="0"/>
              <a:t>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Manipulation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Koriste</a:t>
            </a:r>
            <a:r>
              <a:rPr lang="en-US" dirty="0"/>
              <a:t> se </a:t>
            </a:r>
            <a:r>
              <a:rPr lang="sr-Latn-BA" dirty="0"/>
              <a:t>da konvertuju podatke iz stanja u kome su smešteni u bazu u željeni oblik</a:t>
            </a:r>
            <a:r>
              <a:rPr lang="en-US" dirty="0"/>
              <a:t> </a:t>
            </a:r>
          </a:p>
          <a:p>
            <a:r>
              <a:rPr lang="sr-Latn-BA" dirty="0"/>
              <a:t>Konvertovani podaci se koriste za formatiranje izgleda izveštaja ili kod pretraživanja</a:t>
            </a:r>
          </a:p>
          <a:p>
            <a:pPr>
              <a:buNone/>
            </a:pPr>
            <a:r>
              <a:rPr lang="en-US" dirty="0"/>
              <a:t>LOWER(column | expression) </a:t>
            </a:r>
            <a:r>
              <a:rPr lang="sr-Latn-BA" dirty="0"/>
              <a:t>konvertuje slova u mala</a:t>
            </a:r>
          </a:p>
          <a:p>
            <a:pPr>
              <a:buNone/>
            </a:pPr>
            <a:r>
              <a:rPr lang="en-US" dirty="0"/>
              <a:t>UPPER(column | expression) </a:t>
            </a:r>
            <a:r>
              <a:rPr lang="sr-Latn-BA" dirty="0"/>
              <a:t>konvertuje slova u velika</a:t>
            </a:r>
          </a:p>
          <a:p>
            <a:pPr>
              <a:buNone/>
            </a:pPr>
            <a:r>
              <a:rPr lang="en-US" dirty="0"/>
              <a:t>INITCAP(column | expression) </a:t>
            </a:r>
            <a:r>
              <a:rPr lang="sr-Latn-BA" dirty="0"/>
              <a:t>konvertuje prvo slovo reči u veliko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Manipulation Functions</a:t>
            </a:r>
            <a:r>
              <a:rPr lang="sr-Latn-BA" dirty="0"/>
              <a:t> - primeri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last_name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employees</a:t>
            </a:r>
          </a:p>
          <a:p>
            <a:pPr>
              <a:buNone/>
            </a:pPr>
            <a:r>
              <a:rPr lang="en-US" sz="2400" dirty="0"/>
              <a:t>WHERE LOWER(</a:t>
            </a:r>
            <a:r>
              <a:rPr lang="en-US" sz="2400" dirty="0" err="1"/>
              <a:t>last_name</a:t>
            </a:r>
            <a:r>
              <a:rPr lang="en-US" sz="2400" dirty="0"/>
              <a:t>) = '</a:t>
            </a:r>
            <a:r>
              <a:rPr lang="en-US" sz="2400" dirty="0" err="1"/>
              <a:t>abel</a:t>
            </a:r>
            <a:r>
              <a:rPr lang="en-US" sz="2400" dirty="0"/>
              <a:t>'; </a:t>
            </a:r>
            <a:endParaRPr lang="sr-Latn-BA" sz="2400" dirty="0"/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last_name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employees</a:t>
            </a:r>
          </a:p>
          <a:p>
            <a:pPr>
              <a:buNone/>
            </a:pPr>
            <a:r>
              <a:rPr lang="en-US" sz="2400" dirty="0"/>
              <a:t>WHERE UPPER(</a:t>
            </a:r>
            <a:r>
              <a:rPr lang="en-US" sz="2400" dirty="0" err="1"/>
              <a:t>last_name</a:t>
            </a:r>
            <a:r>
              <a:rPr lang="en-US" sz="2400" dirty="0"/>
              <a:t>) = 'ABEL';</a:t>
            </a:r>
            <a:endParaRPr lang="sr-Latn-BA" sz="2400" dirty="0"/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SELECT </a:t>
            </a:r>
            <a:r>
              <a:rPr lang="en-US" sz="2400" dirty="0" err="1"/>
              <a:t>last_name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FROM employees</a:t>
            </a:r>
          </a:p>
          <a:p>
            <a:pPr>
              <a:buNone/>
            </a:pPr>
            <a:r>
              <a:rPr lang="en-US" sz="2400" dirty="0"/>
              <a:t>WHERE INITCAP(</a:t>
            </a:r>
            <a:r>
              <a:rPr lang="en-US" sz="2400" dirty="0" err="1"/>
              <a:t>last_name</a:t>
            </a:r>
            <a:r>
              <a:rPr lang="en-US" sz="2400" dirty="0"/>
              <a:t>) = 'Abel';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Character Manipulation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400" b="1" dirty="0"/>
              <a:t>CONCAT</a:t>
            </a:r>
            <a:r>
              <a:rPr lang="sr-Latn-BA" sz="3400" dirty="0"/>
              <a:t>- spaja dve vrednosti (bez razmaka). Argumenti su dva  stringa</a:t>
            </a:r>
            <a:endParaRPr lang="sr-Latn-BA" sz="2400" dirty="0"/>
          </a:p>
          <a:p>
            <a:pPr>
              <a:buNone/>
            </a:pPr>
            <a:r>
              <a:rPr lang="en-US" sz="2900" dirty="0"/>
              <a:t>SELECT CONCAT(</a:t>
            </a:r>
            <a:r>
              <a:rPr lang="en-US" sz="2900" dirty="0" err="1"/>
              <a:t>first_name</a:t>
            </a:r>
            <a:r>
              <a:rPr lang="en-US" sz="2900" dirty="0"/>
              <a:t>, </a:t>
            </a:r>
            <a:r>
              <a:rPr lang="en-US" sz="2900" dirty="0" err="1"/>
              <a:t>last_name</a:t>
            </a:r>
            <a:r>
              <a:rPr lang="en-US" sz="2900" dirty="0"/>
              <a:t>)</a:t>
            </a:r>
          </a:p>
          <a:p>
            <a:pPr>
              <a:buNone/>
            </a:pPr>
            <a:r>
              <a:rPr lang="en-US" sz="2900" dirty="0"/>
              <a:t>FROM employees;</a:t>
            </a:r>
            <a:endParaRPr lang="sr-Latn-BA" sz="2900" dirty="0"/>
          </a:p>
          <a:p>
            <a:pPr>
              <a:buNone/>
            </a:pPr>
            <a:endParaRPr lang="sr-Latn-BA" sz="2000" dirty="0"/>
          </a:p>
          <a:p>
            <a:pPr>
              <a:buNone/>
            </a:pPr>
            <a:r>
              <a:rPr lang="en-US" sz="3400" b="1" dirty="0"/>
              <a:t>SUBSTR</a:t>
            </a:r>
            <a:r>
              <a:rPr lang="sr-Latn-BA" sz="3400" dirty="0"/>
              <a:t> – izdvaja podstring od zadate pozicije, zadate dužine. Argumenti su string, početna pozicija i dužina. Dužina se može izostaviti i onda se uzima do kraja polaznog stringa</a:t>
            </a:r>
            <a:r>
              <a:rPr lang="en-US" sz="3400" dirty="0"/>
              <a:t>Extracts a string of a determined length. </a:t>
            </a:r>
            <a:endParaRPr lang="sr-Latn-BA" sz="3400" dirty="0"/>
          </a:p>
          <a:p>
            <a:pPr>
              <a:buNone/>
            </a:pPr>
            <a:r>
              <a:rPr lang="en-US" sz="2600" dirty="0"/>
              <a:t>SELECT SUBSTR(</a:t>
            </a:r>
            <a:r>
              <a:rPr lang="en-US" sz="2600" dirty="0" err="1"/>
              <a:t>last_name</a:t>
            </a:r>
            <a:r>
              <a:rPr lang="en-US" sz="2600" dirty="0"/>
              <a:t>, 1, 3)</a:t>
            </a:r>
          </a:p>
          <a:p>
            <a:pPr>
              <a:buNone/>
            </a:pPr>
            <a:r>
              <a:rPr lang="en-US" sz="2600" dirty="0"/>
              <a:t>FROM employees;	</a:t>
            </a:r>
            <a:endParaRPr lang="sr-Latn-BA" sz="2600" dirty="0"/>
          </a:p>
          <a:p>
            <a:endParaRPr lang="en-US" sz="2600" dirty="0"/>
          </a:p>
          <a:p>
            <a:pPr>
              <a:buNone/>
            </a:pPr>
            <a:r>
              <a:rPr lang="en-US" sz="2600" dirty="0"/>
              <a:t>SELECT SUBSTR('</a:t>
            </a:r>
            <a:r>
              <a:rPr lang="en-US" sz="2600" dirty="0" err="1"/>
              <a:t>HelloWorld</a:t>
            </a:r>
            <a:r>
              <a:rPr lang="en-US" sz="2600" dirty="0"/>
              <a:t>', 6)</a:t>
            </a:r>
          </a:p>
          <a:p>
            <a:pPr>
              <a:buNone/>
            </a:pPr>
            <a:r>
              <a:rPr lang="en-US" sz="2600" dirty="0"/>
              <a:t>FROM DUAL;	</a:t>
            </a:r>
          </a:p>
          <a:p>
            <a:pPr>
              <a:buNone/>
            </a:pPr>
            <a:endParaRPr lang="en-US" sz="26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Manipulation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9600" b="1" dirty="0"/>
              <a:t>LENGTH</a:t>
            </a:r>
            <a:r>
              <a:rPr lang="sr-Latn-BA" sz="9600" dirty="0"/>
              <a:t> – prikazuje dužinu stringa. Argument je string</a:t>
            </a:r>
          </a:p>
          <a:p>
            <a:pPr>
              <a:buNone/>
            </a:pPr>
            <a:r>
              <a:rPr lang="en-US" sz="8000" dirty="0"/>
              <a:t>SELECT LENGTH(</a:t>
            </a:r>
            <a:r>
              <a:rPr lang="en-US" sz="8000" dirty="0" err="1"/>
              <a:t>last_name</a:t>
            </a:r>
            <a:r>
              <a:rPr lang="en-US" sz="8000" dirty="0"/>
              <a:t>)</a:t>
            </a:r>
          </a:p>
          <a:p>
            <a:pPr>
              <a:buNone/>
            </a:pPr>
            <a:r>
              <a:rPr lang="en-US" sz="8000" dirty="0"/>
              <a:t>FROM employees;</a:t>
            </a:r>
            <a:endParaRPr lang="sr-Latn-BA" sz="8000" dirty="0"/>
          </a:p>
          <a:p>
            <a:pPr>
              <a:buNone/>
            </a:pPr>
            <a:r>
              <a:rPr lang="en-US" sz="8000" dirty="0"/>
              <a:t>	</a:t>
            </a:r>
          </a:p>
          <a:p>
            <a:pPr>
              <a:buNone/>
            </a:pPr>
            <a:r>
              <a:rPr lang="en-US" sz="9600" b="1" dirty="0"/>
              <a:t>INSTR</a:t>
            </a:r>
            <a:r>
              <a:rPr lang="sr-Latn-BA" sz="9600" b="1" dirty="0"/>
              <a:t> </a:t>
            </a:r>
            <a:r>
              <a:rPr lang="sr-Latn-BA" sz="9600" dirty="0"/>
              <a:t>– Nalaži poziciju prvog pojavljivanja zadatog podstringa u polaznom stringu. Ako podstring nije nađen rezultat je nula</a:t>
            </a:r>
          </a:p>
          <a:p>
            <a:pPr>
              <a:buNone/>
            </a:pPr>
            <a:r>
              <a:rPr lang="en-US" sz="8000" dirty="0"/>
              <a:t>SELECT </a:t>
            </a:r>
            <a:r>
              <a:rPr lang="en-US" sz="8000" dirty="0" err="1"/>
              <a:t>last_name</a:t>
            </a:r>
            <a:r>
              <a:rPr lang="en-US" sz="8000" dirty="0"/>
              <a:t>, INSTR(</a:t>
            </a:r>
            <a:r>
              <a:rPr lang="en-US" sz="8000" dirty="0" err="1"/>
              <a:t>last_name</a:t>
            </a:r>
            <a:r>
              <a:rPr lang="en-US" sz="8000" dirty="0"/>
              <a:t>, 'a')</a:t>
            </a:r>
          </a:p>
          <a:p>
            <a:pPr>
              <a:buNone/>
            </a:pPr>
            <a:r>
              <a:rPr lang="en-US" sz="8000" dirty="0"/>
              <a:t>FROM employees;</a:t>
            </a:r>
            <a:endParaRPr lang="sr-Latn-BA" sz="8000" dirty="0"/>
          </a:p>
          <a:p>
            <a:pPr>
              <a:buNone/>
            </a:pPr>
            <a:endParaRPr lang="en-US" sz="8000" dirty="0"/>
          </a:p>
          <a:p>
            <a:pPr>
              <a:buNone/>
            </a:pPr>
            <a:r>
              <a:rPr lang="en-US" sz="8000" dirty="0"/>
              <a:t>SELECT INSTR('</a:t>
            </a:r>
            <a:r>
              <a:rPr lang="en-US" sz="8000" dirty="0" err="1"/>
              <a:t>HelloWorld</a:t>
            </a:r>
            <a:r>
              <a:rPr lang="en-US" sz="8000" dirty="0"/>
              <a:t>', ‘</a:t>
            </a:r>
            <a:r>
              <a:rPr lang="sr-Latn-BA" sz="8000" dirty="0"/>
              <a:t>w</a:t>
            </a:r>
            <a:r>
              <a:rPr lang="en-US" sz="8000" dirty="0"/>
              <a:t>')</a:t>
            </a:r>
          </a:p>
          <a:p>
            <a:pPr>
              <a:buNone/>
            </a:pPr>
            <a:r>
              <a:rPr lang="en-US" sz="8000" dirty="0"/>
              <a:t>FROM DUAL;	</a:t>
            </a:r>
          </a:p>
          <a:p>
            <a:endParaRPr lang="en-US" sz="8000" dirty="0"/>
          </a:p>
          <a:p>
            <a:pPr>
              <a:buNone/>
            </a:pPr>
            <a:r>
              <a:rPr lang="en-US" sz="8000" dirty="0"/>
              <a:t>SELECT INSTR('</a:t>
            </a:r>
            <a:r>
              <a:rPr lang="en-US" sz="8000" dirty="0" err="1"/>
              <a:t>HelloWorld</a:t>
            </a:r>
            <a:r>
              <a:rPr lang="en-US" sz="8000" dirty="0"/>
              <a:t>', 'W')</a:t>
            </a:r>
          </a:p>
          <a:p>
            <a:pPr>
              <a:buNone/>
            </a:pPr>
            <a:r>
              <a:rPr lang="en-US" sz="8000" dirty="0"/>
              <a:t>FROM DUAL;	</a:t>
            </a:r>
          </a:p>
          <a:p>
            <a:pPr>
              <a:buNone/>
            </a:pPr>
            <a:r>
              <a:rPr lang="en-US" sz="8000" dirty="0"/>
              <a:t>	</a:t>
            </a:r>
          </a:p>
          <a:p>
            <a:pPr>
              <a:buNone/>
            </a:pPr>
            <a:endParaRPr lang="en-US" sz="4200" dirty="0"/>
          </a:p>
          <a:p>
            <a:pPr>
              <a:buNone/>
            </a:pPr>
            <a:r>
              <a:rPr lang="sr-Latn-BA" sz="4200" dirty="0"/>
              <a:t> </a:t>
            </a:r>
            <a:endParaRPr lang="en-US" sz="4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Manipulation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/>
              <a:t>LPAD</a:t>
            </a:r>
            <a:r>
              <a:rPr lang="sr-Latn-BA" sz="2800" b="1" dirty="0"/>
              <a:t> </a:t>
            </a:r>
            <a:r>
              <a:rPr lang="sr-Latn-BA" sz="2800" dirty="0"/>
              <a:t>– dodavanje znakova sa leve strane polaznog stringa. Kao rezultat se dobija desno poravnanje. Argumenti polazni string, ukupna dužina rezultujužeg stringa i znak koji se dodaje</a:t>
            </a:r>
          </a:p>
          <a:p>
            <a:pPr>
              <a:buNone/>
            </a:pPr>
            <a:r>
              <a:rPr lang="en-US" sz="2000" dirty="0"/>
              <a:t>SELECT LPAD(</a:t>
            </a:r>
            <a:r>
              <a:rPr lang="en-US" sz="2000" dirty="0" err="1"/>
              <a:t>last_name</a:t>
            </a:r>
            <a:r>
              <a:rPr lang="en-US" sz="2000" dirty="0"/>
              <a:t>, 10, '*')</a:t>
            </a:r>
          </a:p>
          <a:p>
            <a:pPr>
              <a:buNone/>
            </a:pPr>
            <a:r>
              <a:rPr lang="en-US" sz="2000" dirty="0"/>
              <a:t>FROM employees;</a:t>
            </a:r>
            <a:endParaRPr lang="sr-Latn-BA" sz="2000" dirty="0"/>
          </a:p>
          <a:p>
            <a:pPr>
              <a:buNone/>
            </a:pPr>
            <a:r>
              <a:rPr lang="en-US" sz="2000" dirty="0"/>
              <a:t>	</a:t>
            </a:r>
          </a:p>
          <a:p>
            <a:pPr>
              <a:buNone/>
            </a:pPr>
            <a:r>
              <a:rPr lang="en-US" sz="2800" b="1" dirty="0"/>
              <a:t>RPAD</a:t>
            </a:r>
            <a:r>
              <a:rPr lang="sr-Latn-BA" sz="2800" dirty="0"/>
              <a:t> – dodavanje znakova sa desne strane polaznog stringa</a:t>
            </a:r>
          </a:p>
          <a:p>
            <a:pPr>
              <a:buNone/>
            </a:pPr>
            <a:r>
              <a:rPr lang="en-US" sz="2000" dirty="0"/>
              <a:t>SELECT RPAD('</a:t>
            </a:r>
            <a:r>
              <a:rPr lang="en-US" sz="2000" dirty="0" err="1"/>
              <a:t>HelloWorld</a:t>
            </a:r>
            <a:r>
              <a:rPr lang="en-US" sz="2000" dirty="0"/>
              <a:t>', 15, '-')</a:t>
            </a:r>
          </a:p>
          <a:p>
            <a:pPr>
              <a:buNone/>
            </a:pPr>
            <a:r>
              <a:rPr lang="en-US" sz="2000" dirty="0"/>
              <a:t>FROM DUAL;</a:t>
            </a:r>
            <a:r>
              <a:rPr lang="en-US" sz="2200" dirty="0"/>
              <a:t>	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Manipulation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000" b="1" dirty="0"/>
              <a:t>TRIM</a:t>
            </a:r>
            <a:r>
              <a:rPr lang="sr-Latn-BA" sz="3000" dirty="0"/>
              <a:t> – uklanja sve zadate karaktere iz polaznog stringa zavisno od opcije na početku, na kraju ili sa oba kraja</a:t>
            </a:r>
          </a:p>
          <a:p>
            <a:pPr>
              <a:buNone/>
            </a:pPr>
            <a:endParaRPr lang="sr-Latn-BA" sz="2600" dirty="0"/>
          </a:p>
          <a:p>
            <a:pPr>
              <a:buNone/>
            </a:pPr>
            <a:r>
              <a:rPr lang="en-US" sz="2200" dirty="0"/>
              <a:t>SELECT </a:t>
            </a:r>
            <a:r>
              <a:rPr lang="sr-Latn-BA" sz="2200" dirty="0"/>
              <a:t> </a:t>
            </a:r>
            <a:r>
              <a:rPr lang="en-US" sz="2200" dirty="0"/>
              <a:t>TRIM(LEADING 'a' FROM '</a:t>
            </a:r>
            <a:r>
              <a:rPr lang="en-US" sz="2200" dirty="0" err="1"/>
              <a:t>abcba</a:t>
            </a:r>
            <a:r>
              <a:rPr lang="en-US" sz="2200" dirty="0"/>
              <a:t>')</a:t>
            </a:r>
          </a:p>
          <a:p>
            <a:pPr>
              <a:buNone/>
            </a:pPr>
            <a:r>
              <a:rPr lang="en-US" sz="2200" dirty="0"/>
              <a:t>FROM DUAL;</a:t>
            </a:r>
            <a:endParaRPr lang="sr-Latn-BA" sz="2200" dirty="0"/>
          </a:p>
          <a:p>
            <a:pPr>
              <a:buNone/>
            </a:pPr>
            <a:endParaRPr lang="en-US" sz="2200" dirty="0"/>
          </a:p>
          <a:p>
            <a:pPr>
              <a:buNone/>
            </a:pPr>
            <a:r>
              <a:rPr lang="en-US" sz="2200" dirty="0"/>
              <a:t>SELECT </a:t>
            </a:r>
            <a:r>
              <a:rPr lang="sr-Latn-BA" sz="2200" dirty="0"/>
              <a:t> </a:t>
            </a:r>
            <a:r>
              <a:rPr lang="en-US" sz="2200" dirty="0"/>
              <a:t>TRIM(TRAILING 'a' FROM '</a:t>
            </a:r>
            <a:r>
              <a:rPr lang="en-US" sz="2200" dirty="0" err="1"/>
              <a:t>abcba</a:t>
            </a:r>
            <a:r>
              <a:rPr lang="en-US" sz="2200" dirty="0"/>
              <a:t>')</a:t>
            </a:r>
          </a:p>
          <a:p>
            <a:pPr>
              <a:buNone/>
            </a:pPr>
            <a:r>
              <a:rPr lang="en-US" sz="2200" dirty="0"/>
              <a:t>FROM DUAL;</a:t>
            </a:r>
            <a:endParaRPr lang="sr-Latn-BA" sz="2200" dirty="0"/>
          </a:p>
          <a:p>
            <a:pPr>
              <a:buNone/>
            </a:pPr>
            <a:endParaRPr lang="en-US" sz="2200" dirty="0"/>
          </a:p>
          <a:p>
            <a:pPr>
              <a:buNone/>
            </a:pPr>
            <a:r>
              <a:rPr lang="en-US" sz="2200" dirty="0"/>
              <a:t>SELECT </a:t>
            </a:r>
            <a:r>
              <a:rPr lang="sr-Latn-BA" sz="2200" dirty="0"/>
              <a:t> </a:t>
            </a:r>
            <a:r>
              <a:rPr lang="en-US" sz="2200" dirty="0"/>
              <a:t>TRIM(BOTH 'a' FROM '</a:t>
            </a:r>
            <a:r>
              <a:rPr lang="en-US" sz="2200" dirty="0" err="1"/>
              <a:t>abcba</a:t>
            </a:r>
            <a:r>
              <a:rPr lang="en-US" sz="2200" dirty="0"/>
              <a:t>')</a:t>
            </a:r>
          </a:p>
          <a:p>
            <a:pPr>
              <a:buNone/>
            </a:pPr>
            <a:r>
              <a:rPr lang="en-US" sz="2200" dirty="0"/>
              <a:t>FROM DUAL;	</a:t>
            </a:r>
          </a:p>
          <a:p>
            <a:pPr>
              <a:buNone/>
            </a:pPr>
            <a:r>
              <a:rPr lang="en-US" sz="2200" b="1" dirty="0"/>
              <a:t>	</a:t>
            </a:r>
            <a:endParaRPr lang="en-US" sz="2200" dirty="0"/>
          </a:p>
          <a:p>
            <a:endParaRPr lang="en-US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Manipulation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REPLACE</a:t>
            </a:r>
            <a:r>
              <a:rPr lang="en-US" dirty="0"/>
              <a:t> </a:t>
            </a:r>
            <a:r>
              <a:rPr lang="sr-Latn-BA" dirty="0"/>
              <a:t> - zamenjuje zadati podstring u polaznom stringu novim nizom karaktera</a:t>
            </a:r>
            <a:endParaRPr lang="en-US" dirty="0"/>
          </a:p>
          <a:p>
            <a:pPr>
              <a:buNone/>
            </a:pPr>
            <a:r>
              <a:rPr lang="en-US" sz="2800" dirty="0"/>
              <a:t>REPLACE (string1, </a:t>
            </a:r>
            <a:r>
              <a:rPr lang="en-US" sz="2800" dirty="0" err="1"/>
              <a:t>string_to_replace</a:t>
            </a:r>
            <a:r>
              <a:rPr lang="en-US" sz="2800" dirty="0"/>
              <a:t>, [</a:t>
            </a:r>
            <a:r>
              <a:rPr lang="en-US" sz="2800" dirty="0" err="1"/>
              <a:t>replacement_string</a:t>
            </a:r>
            <a:r>
              <a:rPr lang="en-US" sz="2800" dirty="0"/>
              <a:t>] ) </a:t>
            </a:r>
          </a:p>
          <a:p>
            <a:pPr>
              <a:buNone/>
            </a:pPr>
            <a:r>
              <a:rPr lang="en-US" dirty="0"/>
              <a:t>string1 </a:t>
            </a:r>
            <a:r>
              <a:rPr lang="sr-Latn-BA" dirty="0"/>
              <a:t>je polazni string</a:t>
            </a:r>
            <a:endParaRPr lang="en-US" dirty="0"/>
          </a:p>
          <a:p>
            <a:pPr>
              <a:buNone/>
            </a:pPr>
            <a:r>
              <a:rPr lang="en-US" dirty="0" err="1"/>
              <a:t>string_to_replaceis</a:t>
            </a:r>
            <a:r>
              <a:rPr lang="en-US" dirty="0"/>
              <a:t> </a:t>
            </a:r>
            <a:r>
              <a:rPr lang="sr-Latn-BA" dirty="0"/>
              <a:t>je podstring koji tražimo i koji ćemo izbaciti iz polaznog stringa</a:t>
            </a:r>
            <a:r>
              <a:rPr lang="en-US" dirty="0"/>
              <a:t>the string that will be searched for and taken out of string1</a:t>
            </a:r>
          </a:p>
          <a:p>
            <a:pPr>
              <a:buNone/>
            </a:pPr>
            <a:r>
              <a:rPr lang="en-US" dirty="0"/>
              <a:t>[</a:t>
            </a:r>
            <a:r>
              <a:rPr lang="en-US" dirty="0" err="1"/>
              <a:t>replacement_string</a:t>
            </a:r>
            <a:r>
              <a:rPr lang="en-US" dirty="0"/>
              <a:t>] </a:t>
            </a:r>
            <a:r>
              <a:rPr lang="sr-Latn-BA" dirty="0"/>
              <a:t>je podstring koji ćemo umetnuti u polazni string umesto izbačenog podstringa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Manipulation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dirty="0"/>
          </a:p>
          <a:p>
            <a:pPr>
              <a:buNone/>
            </a:pPr>
            <a:r>
              <a:rPr lang="en-US" dirty="0"/>
              <a:t>SELECT REPLACE('JACK and JUE', 'J', 'BL')</a:t>
            </a:r>
          </a:p>
          <a:p>
            <a:pPr>
              <a:buNone/>
            </a:pPr>
            <a:r>
              <a:rPr lang="en-US" dirty="0"/>
              <a:t>FROM DUAL;</a:t>
            </a:r>
            <a:endParaRPr lang="sr-Latn-BA" dirty="0"/>
          </a:p>
          <a:p>
            <a:pPr>
              <a:buNone/>
            </a:pPr>
            <a:r>
              <a:rPr lang="en-US" dirty="0"/>
              <a:t>BLACK and BLUE	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SELECT REPLACE('JACK and JUE', 'J')</a:t>
            </a:r>
          </a:p>
          <a:p>
            <a:pPr>
              <a:buNone/>
            </a:pPr>
            <a:r>
              <a:rPr lang="en-US" dirty="0"/>
              <a:t>FROM DUAL;</a:t>
            </a:r>
            <a:endParaRPr lang="sr-Latn-BA" dirty="0"/>
          </a:p>
          <a:p>
            <a:pPr>
              <a:buNone/>
            </a:pPr>
            <a:r>
              <a:rPr lang="en-US" dirty="0"/>
              <a:t>ACK and UE	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SELECT REPLACE(</a:t>
            </a:r>
            <a:r>
              <a:rPr lang="en-US" dirty="0" err="1"/>
              <a:t>last_name</a:t>
            </a:r>
            <a:r>
              <a:rPr lang="en-US" dirty="0"/>
              <a:t>, 'a', '*')</a:t>
            </a:r>
          </a:p>
          <a:p>
            <a:pPr>
              <a:buNone/>
            </a:pPr>
            <a:r>
              <a:rPr lang="en-US" dirty="0"/>
              <a:t>FROM employees;</a:t>
            </a:r>
            <a:endParaRPr lang="sr-Latn-BA" dirty="0"/>
          </a:p>
          <a:p>
            <a:pPr>
              <a:buNone/>
            </a:pPr>
            <a:r>
              <a:rPr lang="en-US" dirty="0"/>
              <a:t>Abel</a:t>
            </a:r>
          </a:p>
          <a:p>
            <a:pPr>
              <a:buNone/>
            </a:pPr>
            <a:r>
              <a:rPr lang="en-US" dirty="0"/>
              <a:t>D*vies</a:t>
            </a:r>
          </a:p>
          <a:p>
            <a:pPr>
              <a:buNone/>
            </a:pPr>
            <a:r>
              <a:rPr lang="en-US" dirty="0"/>
              <a:t>De H**n 	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Korišćenje nadimaka (Aliases) za kolone u radu sa funkcijama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SELECT </a:t>
            </a:r>
            <a:r>
              <a:rPr lang="sr-Latn-BA" sz="2000" dirty="0"/>
              <a:t>UPPER</a:t>
            </a:r>
            <a:r>
              <a:rPr lang="en-US" sz="2000" dirty="0"/>
              <a:t>(</a:t>
            </a:r>
            <a:r>
              <a:rPr lang="en-US" sz="2000" dirty="0" err="1"/>
              <a:t>last_name</a:t>
            </a:r>
            <a:r>
              <a:rPr lang="en-US" sz="2000" dirty="0"/>
              <a:t>)|| ‘ ‘||</a:t>
            </a:r>
            <a:r>
              <a:rPr lang="sr-Latn-BA" sz="2000" dirty="0"/>
              <a:t>UPPER</a:t>
            </a:r>
            <a:r>
              <a:rPr lang="en-US" sz="2000" dirty="0"/>
              <a:t>(SUBSTR(first_name,1,1))</a:t>
            </a:r>
          </a:p>
          <a:p>
            <a:pPr>
              <a:buNone/>
            </a:pPr>
            <a:r>
              <a:rPr lang="en-US" sz="2000" dirty="0"/>
              <a:t>FROM employees;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SELECT </a:t>
            </a:r>
            <a:r>
              <a:rPr lang="sr-Latn-BA" sz="2000" dirty="0"/>
              <a:t>UPPER</a:t>
            </a:r>
            <a:r>
              <a:rPr lang="en-US" sz="2000" dirty="0"/>
              <a:t>(</a:t>
            </a:r>
            <a:r>
              <a:rPr lang="en-US" sz="2000" dirty="0" err="1"/>
              <a:t>last_name</a:t>
            </a:r>
            <a:r>
              <a:rPr lang="en-US" sz="2000" dirty="0"/>
              <a:t>)|| ‘ ‘||</a:t>
            </a:r>
            <a:r>
              <a:rPr lang="sr-Latn-BA" sz="2000" dirty="0"/>
              <a:t>UPPER</a:t>
            </a:r>
            <a:r>
              <a:rPr lang="en-US" sz="2000" dirty="0"/>
              <a:t>(SUBSTR(first_name,1,1))</a:t>
            </a:r>
          </a:p>
          <a:p>
            <a:pPr>
              <a:buNone/>
            </a:pPr>
            <a:r>
              <a:rPr lang="en-US" sz="2000" dirty="0"/>
              <a:t>AS "User Name"</a:t>
            </a:r>
          </a:p>
          <a:p>
            <a:pPr>
              <a:buNone/>
            </a:pPr>
            <a:r>
              <a:rPr lang="en-US" sz="2000" dirty="0"/>
              <a:t>FROM employees;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4254637"/>
          <a:ext cx="5715000" cy="150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638">
                <a:tc>
                  <a:txBody>
                    <a:bodyPr/>
                    <a:lstStyle/>
                    <a:p>
                      <a:r>
                        <a:rPr lang="sr-Latn-BA" sz="1800" dirty="0"/>
                        <a:t>UPPER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last_name</a:t>
                      </a:r>
                      <a:r>
                        <a:rPr lang="en-US" sz="1800" dirty="0"/>
                        <a:t>)|| ‘ ‘||</a:t>
                      </a:r>
                      <a:r>
                        <a:rPr lang="sr-Latn-BA" sz="1800" dirty="0"/>
                        <a:t>UPPER</a:t>
                      </a:r>
                      <a:r>
                        <a:rPr lang="en-US" sz="1800" dirty="0"/>
                        <a:t>(SUBSTR(first_name,1,1))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dirty="0"/>
                        <a:t>ABEL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638">
                <a:tc>
                  <a:txBody>
                    <a:bodyPr/>
                    <a:lstStyle/>
                    <a:p>
                      <a:r>
                        <a:rPr lang="en-US" dirty="0"/>
                        <a:t>DAVIES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48">
                <a:tc>
                  <a:txBody>
                    <a:bodyPr/>
                    <a:lstStyle/>
                    <a:p>
                      <a:r>
                        <a:rPr lang="en-US" dirty="0"/>
                        <a:t>MILLER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53200" y="4251960"/>
          <a:ext cx="1905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lang="en-US" sz="1800" dirty="0"/>
                        <a:t>User 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n-US" dirty="0"/>
                        <a:t>ABEL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US" dirty="0"/>
                        <a:t>DAVIES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US" dirty="0"/>
                        <a:t>MILLER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Zamenjive promenjive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Koriste se kada nam za isti upit trebaju izveštaji za različite vrednosti u WHERE klauzuli</a:t>
            </a:r>
          </a:p>
          <a:p>
            <a:r>
              <a:rPr lang="sr-Latn-BA" dirty="0"/>
              <a:t>Umesto fiksne vrednosi unosimo znak : (dvotačka) ispred imena promenjive</a:t>
            </a:r>
            <a:endParaRPr lang="en-US" dirty="0"/>
          </a:p>
          <a:p>
            <a:pPr>
              <a:buNone/>
            </a:pPr>
            <a:r>
              <a:rPr lang="en-US" sz="2200" dirty="0"/>
              <a:t>SELECT </a:t>
            </a:r>
            <a:r>
              <a:rPr lang="en-US" sz="2200" dirty="0" err="1"/>
              <a:t>first_name</a:t>
            </a:r>
            <a:r>
              <a:rPr lang="en-US" sz="2200" dirty="0"/>
              <a:t>, </a:t>
            </a:r>
            <a:r>
              <a:rPr lang="en-US" sz="2200" dirty="0" err="1"/>
              <a:t>last_name</a:t>
            </a:r>
            <a:r>
              <a:rPr lang="en-US" sz="2200" dirty="0"/>
              <a:t>, salary, </a:t>
            </a:r>
            <a:r>
              <a:rPr lang="en-US" sz="2200" dirty="0" err="1"/>
              <a:t>department_id</a:t>
            </a:r>
            <a:endParaRPr lang="en-US" sz="2200" dirty="0"/>
          </a:p>
          <a:p>
            <a:pPr>
              <a:buNone/>
            </a:pPr>
            <a:r>
              <a:rPr lang="en-US" sz="2200" dirty="0"/>
              <a:t>FROM employees</a:t>
            </a:r>
          </a:p>
          <a:p>
            <a:pPr>
              <a:buNone/>
            </a:pPr>
            <a:r>
              <a:rPr lang="en-US" sz="2200" dirty="0"/>
              <a:t>WHERE </a:t>
            </a:r>
            <a:r>
              <a:rPr lang="en-US" sz="2200" dirty="0" err="1"/>
              <a:t>department_id</a:t>
            </a:r>
            <a:r>
              <a:rPr lang="en-US" sz="2200" dirty="0"/>
              <a:t>=:</a:t>
            </a:r>
            <a:r>
              <a:rPr lang="en-US" sz="2200" dirty="0" err="1"/>
              <a:t>enter_dept_id</a:t>
            </a:r>
            <a:r>
              <a:rPr lang="en-US" sz="2200" dirty="0"/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Funkcije za rad sa brojevima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ROUND</a:t>
            </a:r>
            <a:r>
              <a:rPr lang="en-US" dirty="0"/>
              <a:t> </a:t>
            </a:r>
            <a:r>
              <a:rPr lang="sr-Latn-BA" dirty="0"/>
              <a:t>može da se koristi za zaokruživanje  i sa numeričkim tipom podataka i sa tipom dates</a:t>
            </a:r>
            <a:endParaRPr lang="en-US" dirty="0"/>
          </a:p>
          <a:p>
            <a:pPr>
              <a:buNone/>
            </a:pPr>
            <a:r>
              <a:rPr lang="en-US" dirty="0"/>
              <a:t>ROUND(</a:t>
            </a:r>
            <a:r>
              <a:rPr lang="en-US" dirty="0" err="1"/>
              <a:t>column|expression</a:t>
            </a:r>
            <a:r>
              <a:rPr lang="en-US" dirty="0"/>
              <a:t>, decimal places)</a:t>
            </a:r>
            <a:endParaRPr lang="sr-Latn-BA" dirty="0"/>
          </a:p>
          <a:p>
            <a:pPr>
              <a:buNone/>
            </a:pPr>
            <a:endParaRPr lang="sr-Latn-BA" dirty="0"/>
          </a:p>
          <a:p>
            <a:pPr>
              <a:buNone/>
            </a:pPr>
            <a:r>
              <a:rPr lang="sr-Latn-BA" dirty="0"/>
              <a:t>ROUND(12.91, 0) 	13</a:t>
            </a:r>
          </a:p>
          <a:p>
            <a:pPr>
              <a:buNone/>
            </a:pPr>
            <a:r>
              <a:rPr lang="sr-Latn-BA" dirty="0"/>
              <a:t>ROUND(12.91)		13</a:t>
            </a:r>
          </a:p>
          <a:p>
            <a:pPr>
              <a:buNone/>
            </a:pPr>
            <a:r>
              <a:rPr lang="sr-Latn-BA" dirty="0"/>
              <a:t>ROUND(12.91, 1)	12.9</a:t>
            </a:r>
          </a:p>
          <a:p>
            <a:pPr>
              <a:buNone/>
            </a:pPr>
            <a:r>
              <a:rPr lang="sr-Latn-BA" dirty="0"/>
              <a:t>ROUND(12.91,-1)	10</a:t>
            </a:r>
            <a:r>
              <a:rPr lang="en-US" dirty="0"/>
              <a:t> </a:t>
            </a:r>
            <a:endParaRPr lang="sr-Latn-BA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Funkcije za rad sa brojevima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TRUNC</a:t>
            </a:r>
            <a:r>
              <a:rPr lang="en-US" dirty="0"/>
              <a:t> </a:t>
            </a:r>
            <a:r>
              <a:rPr lang="sr-Latn-BA" dirty="0"/>
              <a:t> se koristi za odsecanje na zadati broj decimala. Može se koristiti i sa brojevima i sa datumima</a:t>
            </a:r>
          </a:p>
          <a:p>
            <a:pPr>
              <a:buNone/>
            </a:pPr>
            <a:r>
              <a:rPr lang="en-US" dirty="0"/>
              <a:t>TRUNC(</a:t>
            </a:r>
            <a:r>
              <a:rPr lang="en-US" dirty="0" err="1"/>
              <a:t>column|expression</a:t>
            </a:r>
            <a:r>
              <a:rPr lang="en-US" dirty="0"/>
              <a:t>, decimal places)</a:t>
            </a:r>
            <a:endParaRPr lang="sr-Latn-BA" dirty="0"/>
          </a:p>
          <a:p>
            <a:pPr>
              <a:buNone/>
            </a:pPr>
            <a:endParaRPr lang="sr-Latn-BA" dirty="0"/>
          </a:p>
          <a:p>
            <a:pPr>
              <a:buNone/>
            </a:pPr>
            <a:r>
              <a:rPr lang="sr-Latn-BA" dirty="0"/>
              <a:t>TRUNC(45.947, 0)	45</a:t>
            </a:r>
          </a:p>
          <a:p>
            <a:pPr>
              <a:buNone/>
            </a:pPr>
            <a:r>
              <a:rPr lang="sr-Latn-BA" dirty="0"/>
              <a:t>TRUNC(45.947)		45</a:t>
            </a:r>
          </a:p>
          <a:p>
            <a:pPr>
              <a:buNone/>
            </a:pPr>
            <a:r>
              <a:rPr lang="sr-Latn-BA" dirty="0"/>
              <a:t>TRUNC(45.947,2)	</a:t>
            </a:r>
            <a:r>
              <a:rPr lang="en-US" dirty="0"/>
              <a:t>	</a:t>
            </a:r>
            <a:r>
              <a:rPr lang="sr-Latn-BA" dirty="0"/>
              <a:t>45.94</a:t>
            </a:r>
          </a:p>
          <a:p>
            <a:pPr>
              <a:buNone/>
            </a:pPr>
            <a:r>
              <a:rPr lang="sr-Latn-BA" dirty="0"/>
              <a:t>TRUNC(45.947,-1)	40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Funkcije za rad sa brojevima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MOD</a:t>
            </a:r>
            <a:r>
              <a:rPr lang="sr-Latn-BA" dirty="0"/>
              <a:t> određuje ostatak pri deljenju. Često se primenjuje za određivanje parnosti.</a:t>
            </a:r>
          </a:p>
          <a:p>
            <a:pPr>
              <a:buNone/>
            </a:pPr>
            <a:endParaRPr lang="sr-Latn-BA" sz="2000" dirty="0"/>
          </a:p>
          <a:p>
            <a:pPr>
              <a:buNone/>
            </a:pPr>
            <a:r>
              <a:rPr lang="en-US" sz="2000" dirty="0"/>
              <a:t>SELECT </a:t>
            </a:r>
            <a:r>
              <a:rPr lang="en-US" sz="2000" dirty="0" err="1"/>
              <a:t>country_name</a:t>
            </a:r>
            <a:r>
              <a:rPr lang="en-US" sz="2000" dirty="0"/>
              <a:t>, MOD(airports,2) AS "Mod Demo"</a:t>
            </a:r>
          </a:p>
          <a:p>
            <a:pPr>
              <a:buNone/>
            </a:pPr>
            <a:r>
              <a:rPr lang="en-US" sz="2000" dirty="0"/>
              <a:t>FROM </a:t>
            </a:r>
            <a:r>
              <a:rPr lang="en-US" sz="2000" dirty="0" err="1"/>
              <a:t>wf_countries</a:t>
            </a:r>
            <a:r>
              <a:rPr lang="en-US" sz="2000" dirty="0"/>
              <a:t>;</a:t>
            </a:r>
            <a:endParaRPr lang="sr-Latn-BA" sz="2000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4419600"/>
          <a:ext cx="60960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COUNTRY_NAME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Mod Demo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Canada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Republic of Costa Rica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Greenland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Funkcije za rad sa datumima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sr-Latn-BA" dirty="0"/>
              <a:t>Podrazumevani način prikaza za datume  je</a:t>
            </a:r>
            <a:endParaRPr lang="en-US" dirty="0"/>
          </a:p>
          <a:p>
            <a:pPr>
              <a:buNone/>
            </a:pPr>
            <a:r>
              <a:rPr lang="en-US" dirty="0"/>
              <a:t>DD-Mon-YYYY </a:t>
            </a:r>
          </a:p>
          <a:p>
            <a:pPr>
              <a:buNone/>
            </a:pPr>
            <a:r>
              <a:rPr lang="sr-Latn-BA" dirty="0"/>
              <a:t>Na primer</a:t>
            </a:r>
            <a:r>
              <a:rPr lang="en-US" dirty="0"/>
              <a:t>: 02-Dec-201</a:t>
            </a:r>
            <a:r>
              <a:rPr lang="sr-Latn-BA" dirty="0"/>
              <a:t>8</a:t>
            </a:r>
            <a:r>
              <a:rPr lang="en-US" dirty="0"/>
              <a:t>.</a:t>
            </a:r>
            <a:endParaRPr lang="sr-Latn-BA" dirty="0"/>
          </a:p>
          <a:p>
            <a:pPr>
              <a:buNone/>
            </a:pPr>
            <a:r>
              <a:rPr lang="en-US" b="1" dirty="0"/>
              <a:t>SYSDATE</a:t>
            </a:r>
            <a:r>
              <a:rPr lang="en-US" dirty="0"/>
              <a:t> </a:t>
            </a:r>
            <a:r>
              <a:rPr lang="sr-Latn-BA" dirty="0"/>
              <a:t> je funkcija za rad sa datumom koja vraća tekući datum i vreme za servera baze podataka</a:t>
            </a:r>
          </a:p>
          <a:p>
            <a:pPr>
              <a:buNone/>
            </a:pPr>
            <a:r>
              <a:rPr lang="en-US" sz="2200" dirty="0"/>
              <a:t>SELECT SYSDATE</a:t>
            </a:r>
          </a:p>
          <a:p>
            <a:pPr>
              <a:buNone/>
            </a:pPr>
            <a:r>
              <a:rPr lang="en-US" sz="2200" dirty="0"/>
              <a:t>FROM dual;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Funkcije za rad sa datumima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MONTHS_BETWEEN</a:t>
            </a:r>
            <a:r>
              <a:rPr lang="sr-Latn-BA" dirty="0"/>
              <a:t> prikazuje broj meseci između dva datuma, rezultat broj</a:t>
            </a:r>
          </a:p>
          <a:p>
            <a:pPr>
              <a:buNone/>
            </a:pPr>
            <a:r>
              <a:rPr lang="en-US" b="1" dirty="0"/>
              <a:t>ADD_MONTHS</a:t>
            </a:r>
            <a:r>
              <a:rPr lang="en-US" dirty="0"/>
              <a:t>	</a:t>
            </a:r>
            <a:r>
              <a:rPr lang="sr-Latn-BA" dirty="0"/>
              <a:t>dodaje kalendarske mesece na datum</a:t>
            </a:r>
          </a:p>
          <a:p>
            <a:pPr>
              <a:buNone/>
            </a:pPr>
            <a:r>
              <a:rPr lang="en-US" b="1" dirty="0"/>
              <a:t>NEXT_DAY</a:t>
            </a:r>
            <a:r>
              <a:rPr lang="en-US" dirty="0"/>
              <a:t>	</a:t>
            </a:r>
            <a:r>
              <a:rPr lang="sr-Latn-BA" dirty="0"/>
              <a:t>datum sledećeg pojavljivanja zadatog dana u nedelji počev od zadatog datuma</a:t>
            </a:r>
          </a:p>
          <a:p>
            <a:pPr>
              <a:buNone/>
            </a:pPr>
            <a:r>
              <a:rPr lang="en-US" b="1" dirty="0"/>
              <a:t>LAST_DAY</a:t>
            </a:r>
            <a:r>
              <a:rPr lang="en-US" dirty="0"/>
              <a:t>	</a:t>
            </a:r>
            <a:r>
              <a:rPr lang="sr-Latn-BA" dirty="0"/>
              <a:t>poslednji dan u mesecu</a:t>
            </a:r>
          </a:p>
          <a:p>
            <a:pPr>
              <a:buNone/>
            </a:pPr>
            <a:r>
              <a:rPr lang="en-US" b="1" dirty="0"/>
              <a:t>ROUND</a:t>
            </a:r>
            <a:r>
              <a:rPr lang="sr-Latn-BA" dirty="0"/>
              <a:t> 	zaokružuje datum</a:t>
            </a:r>
          </a:p>
          <a:p>
            <a:pPr>
              <a:buNone/>
            </a:pPr>
            <a:r>
              <a:rPr lang="en-US" b="1" dirty="0"/>
              <a:t>TRUNC</a:t>
            </a:r>
            <a:r>
              <a:rPr lang="en-US" dirty="0"/>
              <a:t>	</a:t>
            </a:r>
            <a:r>
              <a:rPr lang="sr-Latn-BA" dirty="0"/>
              <a:t>odseca datum 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datumima - primeri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SELECT </a:t>
            </a:r>
            <a:r>
              <a:rPr lang="en-US" sz="2000" dirty="0" err="1"/>
              <a:t>last_name</a:t>
            </a:r>
            <a:r>
              <a:rPr lang="en-US" sz="2000" dirty="0"/>
              <a:t>, </a:t>
            </a:r>
            <a:r>
              <a:rPr lang="en-US" sz="2000" dirty="0" err="1"/>
              <a:t>hire_date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FROM employees</a:t>
            </a:r>
          </a:p>
          <a:p>
            <a:pPr>
              <a:buNone/>
            </a:pPr>
            <a:r>
              <a:rPr lang="en-US" sz="2000" dirty="0"/>
              <a:t>WHERE MONTHS_BETWEEN (SYSDATE, </a:t>
            </a:r>
            <a:r>
              <a:rPr lang="en-US" sz="2000" dirty="0" err="1"/>
              <a:t>hire_date</a:t>
            </a:r>
            <a:r>
              <a:rPr lang="en-US" sz="2000" dirty="0"/>
              <a:t>) &gt; 240;</a:t>
            </a:r>
            <a:endParaRPr lang="sr-Latn-BA" sz="2000" dirty="0"/>
          </a:p>
          <a:p>
            <a:pPr>
              <a:buNone/>
            </a:pPr>
            <a:r>
              <a:rPr lang="en-US" sz="2000" dirty="0"/>
              <a:t>	</a:t>
            </a:r>
            <a:endParaRPr lang="sr-Latn-BA" sz="2000" dirty="0"/>
          </a:p>
          <a:p>
            <a:pPr>
              <a:buNone/>
            </a:pPr>
            <a:r>
              <a:rPr lang="en-US" sz="2000" dirty="0"/>
              <a:t>SELECT ADD_MONTHS (SYSDATE, 12) AS "Next Year"</a:t>
            </a:r>
          </a:p>
          <a:p>
            <a:pPr>
              <a:buNone/>
            </a:pPr>
            <a:r>
              <a:rPr lang="en-US" sz="2000" dirty="0"/>
              <a:t>FROM dual;</a:t>
            </a:r>
            <a:endParaRPr lang="sr-Latn-BA" sz="2000" dirty="0"/>
          </a:p>
          <a:p>
            <a:pPr>
              <a:buNone/>
            </a:pPr>
            <a:endParaRPr lang="sr-Latn-BA" sz="2000" dirty="0"/>
          </a:p>
          <a:p>
            <a:pPr>
              <a:buNone/>
            </a:pPr>
            <a:r>
              <a:rPr lang="en-US" sz="2000" dirty="0"/>
              <a:t>SELECT NEXT_DAY (SYSDATE, 'Saturday')</a:t>
            </a:r>
            <a:r>
              <a:rPr lang="sr-Latn-BA" sz="2000" dirty="0"/>
              <a:t> </a:t>
            </a:r>
            <a:r>
              <a:rPr lang="en-US" sz="2000" dirty="0"/>
              <a:t>AS "Next Saturday"</a:t>
            </a:r>
          </a:p>
          <a:p>
            <a:pPr>
              <a:buNone/>
            </a:pPr>
            <a:r>
              <a:rPr lang="en-US" sz="2000" dirty="0"/>
              <a:t>FROM dual;</a:t>
            </a:r>
            <a:endParaRPr lang="sr-Latn-BA" sz="2000" dirty="0"/>
          </a:p>
          <a:p>
            <a:pPr>
              <a:buNone/>
            </a:pPr>
            <a:r>
              <a:rPr lang="en-US" sz="2000" dirty="0"/>
              <a:t>	</a:t>
            </a:r>
          </a:p>
          <a:p>
            <a:pPr>
              <a:buNone/>
            </a:pPr>
            <a:r>
              <a:rPr lang="en-US" sz="2000" dirty="0"/>
              <a:t>SELECT LAST_DAY (SYSDATE)</a:t>
            </a:r>
            <a:r>
              <a:rPr lang="sr-Latn-BA" sz="2000" dirty="0"/>
              <a:t> </a:t>
            </a:r>
            <a:r>
              <a:rPr lang="en-US" sz="2000" dirty="0"/>
              <a:t>AS "End of the Month"</a:t>
            </a:r>
          </a:p>
          <a:p>
            <a:pPr>
              <a:buNone/>
            </a:pPr>
            <a:r>
              <a:rPr lang="en-US" sz="2000" dirty="0"/>
              <a:t>FROM dual;</a:t>
            </a:r>
          </a:p>
          <a:p>
            <a:endParaRPr lang="en-US" sz="2000" dirty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datumima - primeri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hire_date</a:t>
            </a:r>
            <a:r>
              <a:rPr lang="en-US" dirty="0"/>
              <a:t>, ROUND(</a:t>
            </a:r>
            <a:r>
              <a:rPr lang="en-US" dirty="0" err="1"/>
              <a:t>hire_date</a:t>
            </a:r>
            <a:r>
              <a:rPr lang="en-US" dirty="0"/>
              <a:t>, 'Month')</a:t>
            </a:r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WHERE </a:t>
            </a:r>
            <a:r>
              <a:rPr lang="en-US" dirty="0" err="1"/>
              <a:t>department_id</a:t>
            </a:r>
            <a:r>
              <a:rPr lang="en-US" dirty="0"/>
              <a:t>= 50;</a:t>
            </a:r>
            <a:endParaRPr lang="sr-Latn-BA" dirty="0"/>
          </a:p>
          <a:p>
            <a:pPr>
              <a:buNone/>
            </a:pPr>
            <a:endParaRPr lang="sr-Latn-BA" dirty="0"/>
          </a:p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hire_date</a:t>
            </a:r>
            <a:r>
              <a:rPr lang="en-US" dirty="0"/>
              <a:t>, </a:t>
            </a:r>
            <a:r>
              <a:rPr lang="sr-Latn-BA" dirty="0"/>
              <a:t> </a:t>
            </a:r>
            <a:r>
              <a:rPr lang="en-US" dirty="0"/>
              <a:t>TRUNC(</a:t>
            </a:r>
            <a:r>
              <a:rPr lang="en-US" dirty="0" err="1"/>
              <a:t>hire_date</a:t>
            </a:r>
            <a:r>
              <a:rPr lang="en-US" dirty="0"/>
              <a:t>, 'Year')</a:t>
            </a:r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WHERE </a:t>
            </a:r>
            <a:r>
              <a:rPr lang="en-US" dirty="0" err="1"/>
              <a:t>department_id</a:t>
            </a:r>
            <a:r>
              <a:rPr lang="en-US" dirty="0"/>
              <a:t>= 50;</a:t>
            </a:r>
            <a:endParaRPr lang="sr-Latn-BA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employee_id</a:t>
            </a:r>
            <a:r>
              <a:rPr lang="en-US" dirty="0"/>
              <a:t>, </a:t>
            </a:r>
            <a:r>
              <a:rPr lang="en-US" dirty="0" err="1"/>
              <a:t>hire_date</a:t>
            </a:r>
            <a:r>
              <a:rPr lang="en-US" dirty="0"/>
              <a:t>, </a:t>
            </a:r>
          </a:p>
          <a:p>
            <a:pPr>
              <a:buNone/>
            </a:pPr>
            <a:r>
              <a:rPr lang="en-US" dirty="0"/>
              <a:t>ROUND(MONTHS_BETWEEN(SYSDATE, </a:t>
            </a:r>
            <a:r>
              <a:rPr lang="en-US" dirty="0" err="1"/>
              <a:t>hire_date</a:t>
            </a:r>
            <a:r>
              <a:rPr lang="en-US" dirty="0"/>
              <a:t>)) AS TENURE,</a:t>
            </a:r>
          </a:p>
          <a:p>
            <a:pPr>
              <a:buNone/>
            </a:pPr>
            <a:r>
              <a:rPr lang="en-US" dirty="0"/>
              <a:t>ADD_MONTHS (</a:t>
            </a:r>
            <a:r>
              <a:rPr lang="en-US" dirty="0" err="1"/>
              <a:t>hire_date</a:t>
            </a:r>
            <a:r>
              <a:rPr lang="en-US" dirty="0"/>
              <a:t>, 6) AS REVIEW, </a:t>
            </a:r>
          </a:p>
          <a:p>
            <a:pPr>
              <a:buNone/>
            </a:pPr>
            <a:r>
              <a:rPr lang="en-US" dirty="0"/>
              <a:t>NEXT_DAY(</a:t>
            </a:r>
            <a:r>
              <a:rPr lang="en-US" dirty="0" err="1"/>
              <a:t>hire_date</a:t>
            </a:r>
            <a:r>
              <a:rPr lang="en-US" dirty="0"/>
              <a:t>, 'FRIDAY'), LAST_DAY(</a:t>
            </a:r>
            <a:r>
              <a:rPr lang="en-US" dirty="0" err="1"/>
              <a:t>hire_date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WHERE MONTHS_BETWEEN (SYSDATE, </a:t>
            </a:r>
            <a:r>
              <a:rPr lang="en-US" dirty="0" err="1"/>
              <a:t>hire_date</a:t>
            </a:r>
            <a:r>
              <a:rPr lang="en-US" dirty="0"/>
              <a:t>) &gt; 36; 	</a:t>
            </a:r>
          </a:p>
          <a:p>
            <a:pPr>
              <a:buNone/>
            </a:pPr>
            <a:endParaRPr lang="sr-Latn-BA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Doma</a:t>
            </a:r>
            <a:r>
              <a:rPr lang="sr-Latn-BA" dirty="0"/>
              <a:t>ći zadatak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Ispisati</a:t>
            </a:r>
            <a:r>
              <a:rPr lang="en-US" dirty="0"/>
              <a:t> </a:t>
            </a:r>
            <a:r>
              <a:rPr lang="en-US" dirty="0" err="1"/>
              <a:t>prezime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zaokružen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godina</a:t>
            </a:r>
            <a:r>
              <a:rPr lang="en-US" dirty="0"/>
              <a:t> </a:t>
            </a:r>
            <a:r>
              <a:rPr lang="en-US" dirty="0" err="1"/>
              <a:t>zaposlenog</a:t>
            </a:r>
            <a:r>
              <a:rPr lang="en-US" dirty="0"/>
              <a:t> u Global Fast Foods  </a:t>
            </a:r>
            <a:r>
              <a:rPr lang="en-US" dirty="0" err="1"/>
              <a:t>čiji</a:t>
            </a:r>
            <a:r>
              <a:rPr lang="en-US" dirty="0"/>
              <a:t> je id 9 (do </a:t>
            </a:r>
            <a:r>
              <a:rPr lang="en-US" dirty="0" err="1"/>
              <a:t>današnjeg</a:t>
            </a:r>
            <a:r>
              <a:rPr lang="en-US" dirty="0"/>
              <a:t> </a:t>
            </a:r>
            <a:r>
              <a:rPr lang="en-US" dirty="0" err="1"/>
              <a:t>datuma</a:t>
            </a:r>
            <a:r>
              <a:rPr lang="en-US" dirty="0"/>
              <a:t>)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Odrediti</a:t>
            </a:r>
            <a:r>
              <a:rPr lang="en-US" dirty="0"/>
              <a:t> datum </a:t>
            </a:r>
            <a:r>
              <a:rPr lang="en-US" dirty="0" err="1"/>
              <a:t>sastanka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će</a:t>
            </a:r>
            <a:r>
              <a:rPr lang="en-US" dirty="0"/>
              <a:t> se </a:t>
            </a:r>
            <a:r>
              <a:rPr lang="en-US" dirty="0" err="1"/>
              <a:t>održati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6 </a:t>
            </a:r>
            <a:r>
              <a:rPr lang="en-US" dirty="0" err="1"/>
              <a:t>meseci</a:t>
            </a:r>
            <a:r>
              <a:rPr lang="en-US" dirty="0"/>
              <a:t>. U </a:t>
            </a:r>
            <a:r>
              <a:rPr lang="en-US" dirty="0" err="1"/>
              <a:t>zaglavlju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 </a:t>
            </a:r>
            <a:r>
              <a:rPr lang="en-US" dirty="0" err="1"/>
              <a:t>ispisati</a:t>
            </a:r>
            <a:r>
              <a:rPr lang="en-US" dirty="0"/>
              <a:t> “Appointment.”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rok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popravljanje</a:t>
            </a:r>
            <a:r>
              <a:rPr lang="en-US" dirty="0"/>
              <a:t> ocean, </a:t>
            </a:r>
            <a:r>
              <a:rPr lang="en-US" dirty="0" err="1"/>
              <a:t>koji</a:t>
            </a:r>
            <a:r>
              <a:rPr lang="en-US" dirty="0"/>
              <a:t> je </a:t>
            </a:r>
            <a:r>
              <a:rPr lang="en-US" dirty="0" err="1"/>
              <a:t>poslednjeg</a:t>
            </a:r>
            <a:r>
              <a:rPr lang="en-US" dirty="0"/>
              <a:t> </a:t>
            </a:r>
            <a:r>
              <a:rPr lang="en-US" dirty="0" err="1"/>
              <a:t>dana</a:t>
            </a:r>
            <a:r>
              <a:rPr lang="en-US" dirty="0"/>
              <a:t> </a:t>
            </a:r>
            <a:r>
              <a:rPr lang="en-US" dirty="0" err="1"/>
              <a:t>tekućeg</a:t>
            </a:r>
            <a:r>
              <a:rPr lang="en-US" dirty="0"/>
              <a:t> </a:t>
            </a:r>
            <a:r>
              <a:rPr lang="en-US" dirty="0" err="1"/>
              <a:t>meseca</a:t>
            </a:r>
            <a:r>
              <a:rPr lang="en-US" dirty="0"/>
              <a:t>. U </a:t>
            </a:r>
            <a:r>
              <a:rPr lang="en-US" dirty="0" err="1"/>
              <a:t>zaglavlju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 </a:t>
            </a:r>
            <a:r>
              <a:rPr lang="en-US" dirty="0" err="1"/>
              <a:t>ispisati</a:t>
            </a:r>
            <a:r>
              <a:rPr lang="en-US" dirty="0"/>
              <a:t> “Deadline”.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Odrediti</a:t>
            </a:r>
            <a:r>
              <a:rPr lang="en-US" dirty="0"/>
              <a:t> datum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petka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4 </a:t>
            </a:r>
            <a:r>
              <a:rPr lang="en-US" dirty="0" err="1"/>
              <a:t>meseca</a:t>
            </a:r>
            <a:r>
              <a:rPr lang="en-US" dirty="0"/>
              <a:t> </a:t>
            </a:r>
            <a:r>
              <a:rPr lang="en-US" dirty="0" err="1"/>
              <a:t>od</a:t>
            </a:r>
            <a:r>
              <a:rPr lang="en-US" dirty="0"/>
              <a:t> </a:t>
            </a:r>
            <a:r>
              <a:rPr lang="en-US" dirty="0" err="1"/>
              <a:t>današnjeg</a:t>
            </a:r>
            <a:r>
              <a:rPr lang="en-US" dirty="0"/>
              <a:t> </a:t>
            </a:r>
            <a:r>
              <a:rPr lang="en-US" dirty="0" err="1"/>
              <a:t>dana</a:t>
            </a:r>
            <a:r>
              <a:rPr lang="en-US" dirty="0"/>
              <a:t>. U </a:t>
            </a:r>
            <a:r>
              <a:rPr lang="en-US" dirty="0" err="1"/>
              <a:t>zaglavlju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 </a:t>
            </a:r>
            <a:r>
              <a:rPr lang="en-US" dirty="0" err="1"/>
              <a:t>ispisati</a:t>
            </a:r>
            <a:r>
              <a:rPr lang="en-US" dirty="0"/>
              <a:t> “First Friday”.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/>
              <a:t>Ispisati</a:t>
            </a:r>
            <a:r>
              <a:rPr lang="en-US" dirty="0"/>
              <a:t> </a:t>
            </a:r>
            <a:r>
              <a:rPr lang="en-US" dirty="0" err="1"/>
              <a:t>prvo</a:t>
            </a:r>
            <a:r>
              <a:rPr lang="en-US" dirty="0"/>
              <a:t> </a:t>
            </a:r>
            <a:r>
              <a:rPr lang="en-US" dirty="0" err="1"/>
              <a:t>slovo</a:t>
            </a:r>
            <a:r>
              <a:rPr lang="en-US" dirty="0"/>
              <a:t> </a:t>
            </a:r>
            <a:r>
              <a:rPr lang="en-US" dirty="0" err="1"/>
              <a:t>imena</a:t>
            </a:r>
            <a:r>
              <a:rPr lang="en-US" dirty="0"/>
              <a:t>, </a:t>
            </a:r>
            <a:r>
              <a:rPr lang="en-US" dirty="0" err="1"/>
              <a:t>prezime</a:t>
            </a:r>
            <a:r>
              <a:rPr lang="en-US" dirty="0"/>
              <a:t> u </a:t>
            </a:r>
            <a:r>
              <a:rPr lang="en-US" dirty="0" err="1"/>
              <a:t>jednoj</a:t>
            </a:r>
            <a:r>
              <a:rPr lang="en-US" dirty="0"/>
              <a:t> </a:t>
            </a:r>
            <a:r>
              <a:rPr lang="en-US" dirty="0" err="1"/>
              <a:t>koloni</a:t>
            </a:r>
            <a:r>
              <a:rPr lang="en-US" dirty="0"/>
              <a:t> “Name”, </a:t>
            </a:r>
            <a:r>
              <a:rPr lang="en-US" dirty="0" err="1"/>
              <a:t>platu</a:t>
            </a:r>
            <a:r>
              <a:rPr lang="en-US" dirty="0"/>
              <a:t> “Salary”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platu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povišicom</a:t>
            </a:r>
            <a:r>
              <a:rPr lang="en-US" dirty="0"/>
              <a:t> </a:t>
            </a:r>
            <a:r>
              <a:rPr lang="en-US" dirty="0" err="1"/>
              <a:t>od</a:t>
            </a:r>
            <a:r>
              <a:rPr lang="en-US" dirty="0"/>
              <a:t> 2000$ “New salary”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zaposlene</a:t>
            </a:r>
            <a:r>
              <a:rPr lang="en-US" dirty="0"/>
              <a:t>  (employees) </a:t>
            </a:r>
            <a:r>
              <a:rPr lang="en-US" dirty="0" err="1"/>
              <a:t>čije</a:t>
            </a:r>
            <a:r>
              <a:rPr lang="en-US" dirty="0"/>
              <a:t> </a:t>
            </a:r>
            <a:r>
              <a:rPr lang="en-US" dirty="0" err="1"/>
              <a:t>prezime</a:t>
            </a:r>
            <a:r>
              <a:rPr lang="en-US" dirty="0"/>
              <a:t> </a:t>
            </a:r>
            <a:r>
              <a:rPr lang="en-US" dirty="0" err="1"/>
              <a:t>počinje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jedno</a:t>
            </a:r>
            <a:r>
              <a:rPr lang="en-US" dirty="0"/>
              <a:t> </a:t>
            </a:r>
            <a:r>
              <a:rPr lang="en-US" dirty="0" err="1"/>
              <a:t>od</a:t>
            </a:r>
            <a:r>
              <a:rPr lang="en-US" dirty="0"/>
              <a:t> </a:t>
            </a:r>
            <a:r>
              <a:rPr lang="en-US" dirty="0" err="1"/>
              <a:t>slova</a:t>
            </a:r>
            <a:r>
              <a:rPr lang="en-US" dirty="0"/>
              <a:t> A,B,D,S. Plate </a:t>
            </a:r>
            <a:r>
              <a:rPr lang="en-US" dirty="0" err="1"/>
              <a:t>ispisati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dve</a:t>
            </a:r>
            <a:r>
              <a:rPr lang="en-US" dirty="0"/>
              <a:t> </a:t>
            </a:r>
            <a:r>
              <a:rPr lang="en-US" dirty="0" err="1"/>
              <a:t>decimale</a:t>
            </a:r>
            <a:r>
              <a:rPr lang="en-US" dirty="0"/>
              <a:t> 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1482</Words>
  <Application>Microsoft Office PowerPoint</Application>
  <PresentationFormat>On-screen Show (4:3)</PresentationFormat>
  <Paragraphs>212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Funkcije za manipulaciju podacima</vt:lpstr>
      <vt:lpstr>Funkcije za rad sa karakterima Single-Row Character Functions</vt:lpstr>
      <vt:lpstr>Case Manipulation Functions</vt:lpstr>
      <vt:lpstr>Case Manipulation Functions - primeri</vt:lpstr>
      <vt:lpstr>Character Manipulation Functions</vt:lpstr>
      <vt:lpstr>Character Manipulation Functions</vt:lpstr>
      <vt:lpstr>Character Manipulation Functions</vt:lpstr>
      <vt:lpstr>Character Manipulation Functions</vt:lpstr>
      <vt:lpstr>Character Manipulation Functions</vt:lpstr>
      <vt:lpstr>Character Manipulation Functions</vt:lpstr>
      <vt:lpstr>Korišćenje nadimaka (Aliases) za kolone u radu sa funkcijama</vt:lpstr>
      <vt:lpstr>Zamenjive promenjive</vt:lpstr>
      <vt:lpstr>Funkcije za rad sa brojevima</vt:lpstr>
      <vt:lpstr>Funkcije za rad sa brojevima</vt:lpstr>
      <vt:lpstr>Funkcije za rad sa brojevima</vt:lpstr>
      <vt:lpstr>Funkcije za rad sa datumima</vt:lpstr>
      <vt:lpstr>Funkcije za rad sa datumima</vt:lpstr>
      <vt:lpstr>Funkcije za rad sa datumima - primeri</vt:lpstr>
      <vt:lpstr>Funkcije za rad sa datumima - primeri</vt:lpstr>
      <vt:lpstr>Domaći zadatak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Funkcije za manipulaciju podacima</dc:title>
  <dc:creator>Vesna</dc:creator>
  <cp:lastModifiedBy>Mladen Živanović</cp:lastModifiedBy>
  <cp:revision>37</cp:revision>
  <dcterms:created xsi:type="dcterms:W3CDTF">2019-02-21T15:44:18Z</dcterms:created>
  <dcterms:modified xsi:type="dcterms:W3CDTF">2025-09-29T07:50:50Z</dcterms:modified>
</cp:coreProperties>
</file>