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6858000" type="screen4x3"/>
  <p:notesSz cx="7559675" cy="10691813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55F7FDE-B78F-4850-B9B9-BE9D3F60D0B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sr-Latn-R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CB582DE-6BF4-4ACB-9270-A98DBF25ED3B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0155329-B585-441A-AF8F-028BD8A3BF24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68D4AF0-A0D0-4E5D-A7D4-A2CAF2B09747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E817DCA-4ED8-4FFC-BB61-8F38E39D800E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sr-Latn-R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CB6782D-D3C6-4DD9-9E63-66AF742F6BD3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49ABF9C-4E1E-40BC-8A48-43846FD87DAD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2263EFC3-BB00-467F-A85D-4C5B389881F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2FCC2A9-6021-4724-A6FB-587E43127D52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E05DE1D-CBDD-42B4-862D-8BFFB04F70EC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7984B58-0BDC-4E2E-A876-EA5D391CEADE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704A193-482A-4A97-AA52-219FEB722B83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735DE0F-62C3-4A8D-A770-235AB29C816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sr-Latn-R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FCF598A-A199-48A1-8564-38B7E18F1B3F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5A5D8FE-2A6A-4735-8232-6055CB294B7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120EA8E-1130-45EC-9DD4-A2E026EF3212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D66DB5F-8A4A-4ADB-95A4-DCD5AD9C32C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sr-Latn-R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353F315-75B9-4CDD-85C4-173BF36026F5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304B95-8E74-4523-A736-7537BF1F00E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68F76FB-808A-417E-9DDC-C2D0E0E90C55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2B90BAC-DDAA-401C-A661-7C16B3F9548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537BF5F-6E42-48BB-A333-AED76E076EEF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FF92126-0080-46A8-A0E1-0F3E5F262D9A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9A11C34-F235-4999-ACDE-16C3619B5DAB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sr-Latn-RS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sr-Latn-R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sr-Latn-R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13421E6-2183-45C8-A153-F6F3EDDF9ED2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sr-Latn-RS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sr-Latn-RS" sz="12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lang="sr-Latn-R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sr-Latn-R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3398BB-514A-41DA-82CB-DD46756D1E80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sr-Latn-RS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Svodni upit nad jednom tabelom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sr-Latn-RS" sz="3200" b="0" strike="noStrike" spc="-1">
                <a:solidFill>
                  <a:srgbClr val="8B8B8B"/>
                </a:solidFill>
                <a:latin typeface="Calibri"/>
              </a:rPr>
              <a:t>Klauzula GROUP BY</a:t>
            </a:r>
            <a:endParaRPr lang="sr-Latn-RS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Svodni upit nad jednom tabelom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000"/>
          </a:bodyPr>
          <a:lstStyle/>
          <a:p>
            <a:pPr marL="343080" indent="-343080" algn="just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Grupne funkcije u rednom upitu nam omogućavaju da dobijemo jedan zbirni rezultat na nivou tabele. Mogu biti obuhvaćene sve vrste, ili samo one koje zadovoljavaju eventualni uslov u WHERE klauzulu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 algn="just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Klauzula GROUP BY u svodnom upitu omogućava da se vrste tabele podele u manje grupe pa grupna funkcija vraća rezultat za svaku podgrupu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GROUP BY </a:t>
            </a: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000"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Ako želimo da odredimo najvišu platu u svakom odeljenju bez GROUP BY klauzule za svako odeljenje bi pisali poseban upit sa WHERE klauzulom koja bi izdvojila vrste sa tom šifrom odeljenja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SELECT MAX(salary)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</a:t>
            </a: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ROM employees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WHERE department_id =50;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SELECT department_id, </a:t>
            </a: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MAX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(salary)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FROM employees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GROUP BY department_id</a:t>
            </a: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;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GROUP BY </a:t>
            </a: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000"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Kolona po kojoj vršimo grupisanje vrsta u GROUP BY ne mora se navoditi u SELECT ali onda ne bi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smo</a:t>
            </a: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 znali koji maksimum je u kom odeljenju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SELECT MAX(salary)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FROM employees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GROUP BY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department_id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;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sr-Latn-RS" sz="3200" b="0" strike="noStrike" spc="-1" dirty="0">
                <a:solidFill>
                  <a:srgbClr val="FF0000"/>
                </a:solidFill>
                <a:latin typeface="Calibri"/>
              </a:rPr>
              <a:t>Sve kolone koje se u SELECT ne nalaze u grupnoj funkciji moraju se navesti u GROUP BY</a:t>
            </a:r>
            <a:endParaRPr lang="en-US" sz="3200" b="0" strike="noStrike" spc="-1" dirty="0">
              <a:solidFill>
                <a:srgbClr val="FF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GROUP BY </a:t>
            </a: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Kada koristimo ORDER BY klauzulu ona se obavezno piše poslednja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Sledeća naredba prikazuje broj zemalja po regionu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SELECT COUNT(country_name), region_id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FROM wf_countries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GROUP BY region_id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ORDER BY region_id;</a:t>
            </a: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GROUP BY </a:t>
            </a: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Kako grupne funkcije ne obuhvataju vrste koje imaju NULL vrednost u zadatoj koloni, nekad je bolje koristiti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COUNT(*)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SELECT COUNT(*), region_id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FROM wf_countries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GROUP BY region_id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ORDER BY region_id;</a:t>
            </a: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GROUP BY </a:t>
            </a: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Moguće je pojedine vrste isključiti iz grupa na osnovu zadatog uslova u WHERE klauzuli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SELECT department_id, MAX(salary)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FROM employees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WHERE last_name != 'King'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GROUP BY department_id;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Prvo će se isključiti zaposleni sa tim prezimenom, a zatim određivati maksimum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GROUP BY </a:t>
            </a: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3000"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U GROUP BY klauzuli ne m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o</a:t>
            </a: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gu se koristiti alijasi za kolone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SELECT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region_id</a:t>
            </a: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 as region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, ROUND(AVG(population)) AS population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FROM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wf_countries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GROUP BY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region_id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ORDER BY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region_id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;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SELECT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country_id</a:t>
            </a: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 as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“</a:t>
            </a: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Country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”, COUNT(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language_id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) AS "Number of languages"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FROM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wf_spoken_languages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GROUP BY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country_id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;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GROUP BY </a:t>
            </a: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Mogu</a:t>
            </a: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će je izvršiti grupisanje po nivoima. Na primer za svako odeljenje odrediti koliko zaposlenih vrši određenu vrstu posla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SELECT department_id, job_id, count(*)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FROM employees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WHERE department_id &gt; 40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GROUP BY department_id, job_id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ORDER BY department_id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;</a:t>
            </a: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GROUP BY </a:t>
            </a: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Grupne funkcije mogu se pozivati u dubinu, do dubine 2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SELECT max(avg(salary))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FROM employees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GROUP by department_id;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sr-Latn-RS" sz="3200" b="0" strike="noStrike" spc="-1">
                <a:solidFill>
                  <a:srgbClr val="000000"/>
                </a:solidFill>
                <a:latin typeface="Calibri"/>
              </a:rPr>
              <a:t>Koliko rezultata vraća ovaj upit?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HAVING 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000"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HAVING klauzula omogućava restrikciju po grupama. Odrediti najveću platu po odeljenjima, ali samo za odeljenja koja imaju više od jednog zaposlenog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SELECT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department_id,MAX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(salary)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FROM employees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GROUP BY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department_id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HAVING COUNT(*)&gt;1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ORDER BY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department_id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;</a:t>
            </a: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HAVING 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Ispisati prosečan broj stanovnika po regionima za </a:t>
            </a:r>
            <a:r>
              <a:rPr lang="sr-Latn-RS" sz="3200" spc="-1" dirty="0">
                <a:solidFill>
                  <a:srgbClr val="000000"/>
                </a:solidFill>
                <a:latin typeface="Calibri"/>
              </a:rPr>
              <a:t>regione</a:t>
            </a: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 koji imaju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drzave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sa</a:t>
            </a: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 minimaln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im</a:t>
            </a: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 broj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em</a:t>
            </a: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 stanovnika veći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m</a:t>
            </a:r>
            <a:r>
              <a:rPr lang="sr-Latn-RS" sz="3200" b="0" strike="noStrike" spc="-1" dirty="0">
                <a:solidFill>
                  <a:srgbClr val="000000"/>
                </a:solidFill>
                <a:latin typeface="Calibri"/>
              </a:rPr>
              <a:t> od 30000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0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SELECT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region_id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, ROUND(AVG(population))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FROM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wf_countries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GROUP BY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region_id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HAVING MIN(population)&gt;300000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ORDER BY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</a:rPr>
              <a:t>region_id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</a:rPr>
              <a:t>;</a:t>
            </a: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sr-Latn-RS" sz="4400" b="0" strike="noStrike" spc="-1">
                <a:solidFill>
                  <a:srgbClr val="000000"/>
                </a:solidFill>
                <a:latin typeface="Calibri"/>
              </a:rPr>
              <a:t>Redosled klauzula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SELECT column, group_function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FROM table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WHERE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GROUP BY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HAVING 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ORDER BY</a:t>
            </a: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Doma</a:t>
            </a:r>
            <a:r>
              <a:rPr lang="sr-Latn-BA" sz="4400" b="0" strike="noStrike" spc="-1">
                <a:solidFill>
                  <a:srgbClr val="000000"/>
                </a:solidFill>
                <a:latin typeface="Calibri"/>
              </a:rPr>
              <a:t>ći zadatak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000"/>
          </a:bodyPr>
          <a:lstStyle/>
          <a:p>
            <a:pPr marL="514440" indent="-5144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Ispisati šifru menadžera (manager_id) i prosečnu platu (salary) za njegove zaposlene, zaokruženu na dve decimale. Prikazati podatke samo za menadžere čiji zaposleni imaju prosek plate manji od 9000</a:t>
            </a:r>
          </a:p>
          <a:p>
            <a:pPr marL="514440" indent="-5144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Ispisati izvođača (artist) i broj pesama koje izvodi (ID) iz tabele d_songs za pesme koje traju 3,6 ili 10 minuta, samo za izvođače koji imaju manje od 10 pesama</a:t>
            </a:r>
          </a:p>
          <a:p>
            <a:pPr marL="514440" indent="-5144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sr-Latn-BA" sz="3200" b="0" strike="noStrike" spc="-1">
                <a:solidFill>
                  <a:srgbClr val="000000"/>
                </a:solidFill>
                <a:latin typeface="Calibri"/>
              </a:rPr>
              <a:t>Odrediti na dve decimale maksimalne plate (salary) po odeljenjima (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department</a:t>
            </a:r>
            <a:r>
              <a:rPr lang="sr-Latn-BA" sz="3200" b="0" strike="noStrike" spc="-1">
                <a:solidFill>
                  <a:srgbClr val="000000"/>
                </a:solidFill>
                <a:latin typeface="Calibri"/>
              </a:rPr>
              <a:t>) u tabeli zaposleni (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employees</a:t>
            </a:r>
            <a:r>
              <a:rPr lang="sr-Latn-BA" sz="3200" b="0" strike="noStrike" spc="-1">
                <a:solidFill>
                  <a:srgbClr val="000000"/>
                </a:solidFill>
                <a:latin typeface="Calibri"/>
              </a:rPr>
              <a:t>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 marL="514440" indent="-51444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sr-Latn-BA" sz="3200" b="0" strike="noStrike" spc="-1">
                <a:solidFill>
                  <a:srgbClr val="000000"/>
                </a:solidFill>
                <a:latin typeface="Calibri"/>
              </a:rPr>
              <a:t>Odrediti na dve decimale maksimum i minimum plata (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salary</a:t>
            </a:r>
            <a:r>
              <a:rPr lang="sr-Latn-BA" sz="3200" b="0" strike="noStrike" spc="-1">
                <a:solidFill>
                  <a:srgbClr val="000000"/>
                </a:solidFill>
                <a:latin typeface="Calibri"/>
              </a:rPr>
              <a:t>) po odeljenjima  (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department</a:t>
            </a:r>
            <a:r>
              <a:rPr lang="sr-Latn-BA" sz="3200" b="0" strike="noStrike" spc="-1">
                <a:solidFill>
                  <a:srgbClr val="000000"/>
                </a:solidFill>
                <a:latin typeface="Calibri"/>
              </a:rPr>
              <a:t>) u tabeli zaposleni (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employees</a:t>
            </a:r>
            <a:r>
              <a:rPr lang="sr-Latn-BA" sz="3200" b="0" strike="noStrike" spc="-1">
                <a:solidFill>
                  <a:srgbClr val="000000"/>
                </a:solidFill>
                <a:latin typeface="Calibri"/>
              </a:rPr>
              <a:t>)</a:t>
            </a: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747</Words>
  <Application>Microsoft Office PowerPoint</Application>
  <PresentationFormat>On-screen Show (4:3)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Svodni upit nad jednom tabelom</vt:lpstr>
      <vt:lpstr>Svodni upit nad jednom tabelom</vt:lpstr>
      <vt:lpstr>GROUP BY klauzula</vt:lpstr>
      <vt:lpstr>GROUP BY klauzula</vt:lpstr>
      <vt:lpstr>GROUP BY klauzula</vt:lpstr>
      <vt:lpstr>GROUP BY klauzula</vt:lpstr>
      <vt:lpstr>GROUP BY klauzula</vt:lpstr>
      <vt:lpstr>GROUP BY klauzula</vt:lpstr>
      <vt:lpstr>GROUP BY klauzula</vt:lpstr>
      <vt:lpstr>GROUP BY klauzula</vt:lpstr>
      <vt:lpstr>HAVING klauzula</vt:lpstr>
      <vt:lpstr>HAVING klauzula</vt:lpstr>
      <vt:lpstr>Redosled klauzula</vt:lpstr>
      <vt:lpstr>Domaći zadatak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Svodni upit nad jednom tabelom</dc:title>
  <dc:subject/>
  <dc:creator>Vesna Veljkovic</dc:creator>
  <dc:description/>
  <cp:lastModifiedBy>Mladen Živanović</cp:lastModifiedBy>
  <cp:revision>18</cp:revision>
  <dcterms:created xsi:type="dcterms:W3CDTF">2019-03-04T14:09:36Z</dcterms:created>
  <dcterms:modified xsi:type="dcterms:W3CDTF">2025-10-27T09:48:29Z</dcterms:modified>
  <dc:language>sr-Latn-RS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i4>14</vt:i4>
  </property>
</Properties>
</file>