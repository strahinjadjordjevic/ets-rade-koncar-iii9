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8B776C-6D58-4777-BEAB-7A32092A4EFD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EEF846-F6C8-4D22-B102-2E172EF051E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EEF846-F6C8-4D22-B102-2E172EF051E5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42C06-4CBE-464D-A846-5BCA356C854C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ED878-77AD-49E9-B2CF-2E247B74E0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42C06-4CBE-464D-A846-5BCA356C854C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ED878-77AD-49E9-B2CF-2E247B74E0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42C06-4CBE-464D-A846-5BCA356C854C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ED878-77AD-49E9-B2CF-2E247B74E0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42C06-4CBE-464D-A846-5BCA356C854C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ED878-77AD-49E9-B2CF-2E247B74E0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42C06-4CBE-464D-A846-5BCA356C854C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ED878-77AD-49E9-B2CF-2E247B74E0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42C06-4CBE-464D-A846-5BCA356C854C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ED878-77AD-49E9-B2CF-2E247B74E0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42C06-4CBE-464D-A846-5BCA356C854C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ED878-77AD-49E9-B2CF-2E247B74E0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42C06-4CBE-464D-A846-5BCA356C854C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ED878-77AD-49E9-B2CF-2E247B74E0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42C06-4CBE-464D-A846-5BCA356C854C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ED878-77AD-49E9-B2CF-2E247B74E0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42C06-4CBE-464D-A846-5BCA356C854C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ED878-77AD-49E9-B2CF-2E247B74E0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42C06-4CBE-464D-A846-5BCA356C854C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ED878-77AD-49E9-B2CF-2E247B74E0A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42C06-4CBE-464D-A846-5BCA356C854C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AED878-77AD-49E9-B2CF-2E247B74E0A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BA" dirty="0"/>
              <a:t>Logički operatori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BA" dirty="0"/>
              <a:t>Logički operatori  omogućavaju  kombinaciju vrednosti jednog ili više uslova </a:t>
            </a:r>
            <a:endParaRPr lang="en-US" dirty="0"/>
          </a:p>
          <a:p>
            <a:pPr>
              <a:buNone/>
            </a:pPr>
            <a:r>
              <a:rPr lang="en-US" dirty="0"/>
              <a:t>•AND --</a:t>
            </a:r>
            <a:r>
              <a:rPr lang="sr-Latn-BA" dirty="0"/>
              <a:t>vraća</a:t>
            </a:r>
            <a:r>
              <a:rPr lang="en-US" dirty="0"/>
              <a:t> TRUE </a:t>
            </a:r>
            <a:r>
              <a:rPr lang="sr-Latn-BA" dirty="0"/>
              <a:t>ako oba uslova imaju vrednost TRUE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•OR --</a:t>
            </a:r>
            <a:r>
              <a:rPr lang="sr-Latn-BA" dirty="0"/>
              <a:t>vraća</a:t>
            </a:r>
            <a:r>
              <a:rPr lang="en-US" dirty="0"/>
              <a:t> TRUE </a:t>
            </a:r>
            <a:r>
              <a:rPr lang="sr-Latn-BA" dirty="0"/>
              <a:t>ako bar jedan uslov ima vrednost TRUE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•NOT --</a:t>
            </a:r>
            <a:r>
              <a:rPr lang="sr-Latn-BA" dirty="0"/>
              <a:t>vraća</a:t>
            </a:r>
            <a:r>
              <a:rPr lang="en-US" dirty="0"/>
              <a:t> TRUE </a:t>
            </a:r>
            <a:r>
              <a:rPr lang="sr-Latn-BA" dirty="0"/>
              <a:t>ako uslov ima vrednost FALSE</a:t>
            </a:r>
            <a:r>
              <a:rPr lang="en-US" dirty="0"/>
              <a:t>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AND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BA" dirty="0"/>
              <a:t>U primerima ćemo dobiti podatke o zaposlenima za koje su ispunjena oba uslova</a:t>
            </a:r>
            <a:endParaRPr lang="en-US" dirty="0"/>
          </a:p>
          <a:p>
            <a:pPr>
              <a:buNone/>
            </a:pPr>
            <a:r>
              <a:rPr lang="en-US" sz="2400" dirty="0"/>
              <a:t>SELECT </a:t>
            </a:r>
            <a:r>
              <a:rPr lang="en-US" sz="2400" dirty="0" err="1"/>
              <a:t>last_name</a:t>
            </a:r>
            <a:r>
              <a:rPr lang="en-US" sz="2400" dirty="0"/>
              <a:t>, </a:t>
            </a:r>
            <a:r>
              <a:rPr lang="en-US" sz="2400" dirty="0" err="1"/>
              <a:t>department_id</a:t>
            </a:r>
            <a:r>
              <a:rPr lang="en-US" sz="2400" dirty="0"/>
              <a:t>, salary</a:t>
            </a:r>
          </a:p>
          <a:p>
            <a:pPr>
              <a:buNone/>
            </a:pPr>
            <a:r>
              <a:rPr lang="en-US" sz="2400" dirty="0"/>
              <a:t>FROM employees</a:t>
            </a:r>
          </a:p>
          <a:p>
            <a:pPr>
              <a:buNone/>
            </a:pPr>
            <a:r>
              <a:rPr lang="en-US" sz="2400" dirty="0"/>
              <a:t>WHERE </a:t>
            </a:r>
            <a:r>
              <a:rPr lang="en-US" sz="2400" dirty="0" err="1"/>
              <a:t>department_id</a:t>
            </a:r>
            <a:r>
              <a:rPr lang="en-US" sz="2400" dirty="0"/>
              <a:t>&gt; 50 AND salary &gt; 12000;</a:t>
            </a:r>
            <a:endParaRPr lang="sr-Latn-BA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4343401"/>
          <a:ext cx="60960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399"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LAST_NAME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DEPARTMENT_ID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SALARY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King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BA" dirty="0"/>
                        <a:t>90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BA" dirty="0"/>
                        <a:t>24000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Kochhar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BA" dirty="0"/>
                        <a:t>90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BA" dirty="0"/>
                        <a:t>17000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 </a:t>
                      </a:r>
                      <a:r>
                        <a:rPr lang="en-US" sz="18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Haan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BA" dirty="0"/>
                        <a:t>90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BA" dirty="0"/>
                        <a:t>17000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AND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400" dirty="0"/>
              <a:t>SELECT </a:t>
            </a:r>
            <a:r>
              <a:rPr lang="en-US" sz="2400" dirty="0" err="1"/>
              <a:t>last_name</a:t>
            </a:r>
            <a:r>
              <a:rPr lang="en-US" sz="2400" dirty="0"/>
              <a:t>, </a:t>
            </a:r>
            <a:r>
              <a:rPr lang="en-US" sz="2400" dirty="0" err="1"/>
              <a:t>hire_date</a:t>
            </a:r>
            <a:r>
              <a:rPr lang="en-US" sz="2400" dirty="0"/>
              <a:t>, </a:t>
            </a:r>
            <a:r>
              <a:rPr lang="en-US" sz="2400" dirty="0" err="1"/>
              <a:t>job_id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FROM employees</a:t>
            </a:r>
          </a:p>
          <a:p>
            <a:pPr>
              <a:buNone/>
            </a:pPr>
            <a:r>
              <a:rPr lang="en-US" sz="2400" dirty="0"/>
              <a:t>WHERE </a:t>
            </a:r>
            <a:r>
              <a:rPr lang="en-US" sz="2400" dirty="0" err="1"/>
              <a:t>hire_date</a:t>
            </a:r>
            <a:r>
              <a:rPr lang="en-US" sz="2400" dirty="0"/>
              <a:t>&gt; '01-Jan-1998' AND </a:t>
            </a:r>
            <a:r>
              <a:rPr lang="en-US" sz="2400" dirty="0" err="1"/>
              <a:t>job_id</a:t>
            </a:r>
            <a:r>
              <a:rPr lang="en-US" sz="2400" dirty="0"/>
              <a:t> LIKE 'SA%';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0" y="3581400"/>
          <a:ext cx="6096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LAST_NAME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HIRE_DATE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JOB_ID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lang="en-US" sz="18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Zlotkey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29-Jan-2000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SA_MAN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Taylor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24-Mar-1998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SA_REP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Grant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24-May-1999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SA_REP 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OR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BA" dirty="0"/>
              <a:t>U primeru ćemo dobiti podatke o odeljenjima za koje je ispunjen bar jedan uslov</a:t>
            </a:r>
            <a:endParaRPr lang="en-US" dirty="0"/>
          </a:p>
          <a:p>
            <a:pPr>
              <a:buNone/>
            </a:pPr>
            <a:r>
              <a:rPr lang="en-US" sz="2400" dirty="0"/>
              <a:t>SELECT </a:t>
            </a:r>
            <a:r>
              <a:rPr lang="en-US" sz="2400" dirty="0" err="1"/>
              <a:t>department_name</a:t>
            </a:r>
            <a:r>
              <a:rPr lang="en-US" sz="2400" dirty="0"/>
              <a:t>, </a:t>
            </a:r>
            <a:r>
              <a:rPr lang="en-US" sz="2400" dirty="0" err="1"/>
              <a:t>manager_id</a:t>
            </a:r>
            <a:r>
              <a:rPr lang="en-US" sz="2400" dirty="0"/>
              <a:t>, </a:t>
            </a:r>
            <a:r>
              <a:rPr lang="en-US" sz="2400" dirty="0" err="1"/>
              <a:t>location_id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FROM departments</a:t>
            </a:r>
          </a:p>
          <a:p>
            <a:pPr>
              <a:buNone/>
            </a:pPr>
            <a:r>
              <a:rPr lang="en-US" sz="2400" dirty="0"/>
              <a:t>WHERE </a:t>
            </a:r>
            <a:r>
              <a:rPr lang="en-US" sz="2400" dirty="0" err="1"/>
              <a:t>location_id</a:t>
            </a:r>
            <a:r>
              <a:rPr lang="en-US" sz="2400" dirty="0"/>
              <a:t>= 2500  OR  </a:t>
            </a:r>
            <a:r>
              <a:rPr lang="en-US" sz="2400" dirty="0" err="1"/>
              <a:t>manager_id</a:t>
            </a:r>
            <a:r>
              <a:rPr lang="en-US" sz="2400" dirty="0"/>
              <a:t>=124;</a:t>
            </a:r>
            <a:endParaRPr lang="sr-Latn-BA" sz="2400" dirty="0"/>
          </a:p>
          <a:p>
            <a:pPr>
              <a:buNone/>
            </a:pPr>
            <a:endParaRPr lang="en-US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8200" y="4267199"/>
          <a:ext cx="67818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DEPARTMENT_NAME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MANAGER_ID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LOCATION_ID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Shipping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BA" dirty="0"/>
                        <a:t>124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BA" dirty="0"/>
                        <a:t>1500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Sales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BA" dirty="0"/>
                        <a:t>149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BA" dirty="0"/>
                        <a:t>2500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NOT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BA" dirty="0"/>
              <a:t>U primeru ćemo dobiti podatke o odeljenjima za koje nije zadovoljen uslov</a:t>
            </a:r>
          </a:p>
          <a:p>
            <a:pPr>
              <a:buNone/>
            </a:pPr>
            <a:r>
              <a:rPr lang="en-US" sz="2400" dirty="0"/>
              <a:t>SELECT </a:t>
            </a:r>
            <a:r>
              <a:rPr lang="en-US" sz="2400" dirty="0" err="1"/>
              <a:t>department_name</a:t>
            </a:r>
            <a:r>
              <a:rPr lang="en-US" sz="2400" dirty="0"/>
              <a:t>, </a:t>
            </a:r>
            <a:r>
              <a:rPr lang="en-US" sz="2400" dirty="0" err="1"/>
              <a:t>location_id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FROM departments</a:t>
            </a:r>
          </a:p>
          <a:p>
            <a:pPr>
              <a:buNone/>
            </a:pPr>
            <a:r>
              <a:rPr lang="en-US" sz="2400" dirty="0"/>
              <a:t>WHERE </a:t>
            </a:r>
            <a:r>
              <a:rPr lang="en-US" sz="2400" dirty="0" err="1"/>
              <a:t>location_id</a:t>
            </a:r>
            <a:r>
              <a:rPr lang="sr-Latn-BA" sz="2400" dirty="0"/>
              <a:t>  </a:t>
            </a:r>
            <a:r>
              <a:rPr lang="en-US" sz="2400" dirty="0"/>
              <a:t>NOT IN (1700,1800);</a:t>
            </a:r>
            <a:endParaRPr lang="sr-Latn-BA" sz="2400" dirty="0"/>
          </a:p>
          <a:p>
            <a:pPr>
              <a:buNone/>
            </a:pPr>
            <a:endParaRPr lang="en-US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95400" y="4343400"/>
          <a:ext cx="6324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2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DEPARTMENT_NAME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LOCATION_ID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Shipping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BA" dirty="0"/>
                        <a:t>1500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BA" dirty="0"/>
                        <a:t>1400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Sales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BA" dirty="0"/>
                        <a:t>2500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/>
              <a:t>Prioritet izvršavanja operatora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2438397"/>
          <a:ext cx="8229600" cy="37338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4867">
                <a:tc>
                  <a:txBody>
                    <a:bodyPr/>
                    <a:lstStyle/>
                    <a:p>
                      <a:r>
                        <a:rPr lang="sr-Latn-BA" dirty="0"/>
                        <a:t>Redosled</a:t>
                      </a:r>
                      <a:r>
                        <a:rPr lang="sr-Latn-BA" baseline="0" dirty="0"/>
                        <a:t> izvršavanja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BA" dirty="0"/>
                        <a:t>operator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867">
                <a:tc>
                  <a:txBody>
                    <a:bodyPr/>
                    <a:lstStyle/>
                    <a:p>
                      <a:r>
                        <a:rPr lang="sr-Latn-BA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BA" dirty="0"/>
                        <a:t>Aritmetički operatori </a:t>
                      </a:r>
                      <a:r>
                        <a:rPr lang="en-US" dirty="0" err="1"/>
                        <a:t>prvo</a:t>
                      </a:r>
                      <a:r>
                        <a:rPr lang="en-US" dirty="0"/>
                        <a:t> </a:t>
                      </a:r>
                      <a:r>
                        <a:rPr lang="sr-Latn-BA" dirty="0"/>
                        <a:t> *</a:t>
                      </a:r>
                      <a:r>
                        <a:rPr lang="en-US" dirty="0"/>
                        <a:t>, </a:t>
                      </a:r>
                      <a:r>
                        <a:rPr lang="sr-Latn-BA" dirty="0"/>
                        <a:t>/ pa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zatim</a:t>
                      </a:r>
                      <a:r>
                        <a:rPr lang="en-US" dirty="0"/>
                        <a:t> </a:t>
                      </a:r>
                      <a:r>
                        <a:rPr lang="sr-Latn-BA" dirty="0"/>
                        <a:t> +</a:t>
                      </a:r>
                      <a:r>
                        <a:rPr lang="en-US" dirty="0"/>
                        <a:t>, </a:t>
                      </a:r>
                      <a:r>
                        <a:rPr lang="sr-Latn-BA" baseline="0" dirty="0"/>
                        <a:t> -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867">
                <a:tc>
                  <a:txBody>
                    <a:bodyPr/>
                    <a:lstStyle/>
                    <a:p>
                      <a:r>
                        <a:rPr lang="sr-Latn-BA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BA" dirty="0"/>
                        <a:t>Konkatenacija </a:t>
                      </a:r>
                      <a:r>
                        <a:rPr lang="en-US" dirty="0"/>
                        <a:t> ||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867">
                <a:tc>
                  <a:txBody>
                    <a:bodyPr/>
                    <a:lstStyle/>
                    <a:p>
                      <a:r>
                        <a:rPr lang="sr-Latn-BA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Operatori</a:t>
                      </a:r>
                      <a:r>
                        <a:rPr lang="en-US" dirty="0"/>
                        <a:t> </a:t>
                      </a:r>
                      <a:r>
                        <a:rPr lang="sr-Latn-BA" dirty="0"/>
                        <a:t>poređenja </a:t>
                      </a:r>
                      <a:r>
                        <a:rPr lang="en-US" dirty="0"/>
                        <a:t>&lt;, &lt;=, =, &gt;, &gt;=,&lt;&gt;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867">
                <a:tc>
                  <a:txBody>
                    <a:bodyPr/>
                    <a:lstStyle/>
                    <a:p>
                      <a:r>
                        <a:rPr lang="sr-Latn-BA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IS (NOT) NULL, LIKE, (NOT) IN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867">
                <a:tc>
                  <a:txBody>
                    <a:bodyPr/>
                    <a:lstStyle/>
                    <a:p>
                      <a:r>
                        <a:rPr lang="sr-Latn-BA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(NOT) BETWEEN … AND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4867">
                <a:tc>
                  <a:txBody>
                    <a:bodyPr/>
                    <a:lstStyle/>
                    <a:p>
                      <a:r>
                        <a:rPr lang="sr-Latn-BA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4867">
                <a:tc>
                  <a:txBody>
                    <a:bodyPr/>
                    <a:lstStyle/>
                    <a:p>
                      <a:r>
                        <a:rPr lang="sr-Latn-BA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4867">
                <a:tc>
                  <a:txBody>
                    <a:bodyPr/>
                    <a:lstStyle/>
                    <a:p>
                      <a:r>
                        <a:rPr lang="sr-Latn-BA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/>
              <a:t>Prioritet izvršavanja operatora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/>
              <a:t>SELECT </a:t>
            </a:r>
            <a:r>
              <a:rPr lang="en-US" sz="2400" dirty="0" err="1"/>
              <a:t>last_name</a:t>
            </a:r>
            <a:r>
              <a:rPr lang="en-US" sz="2400" dirty="0"/>
              <a:t>||' '||salary*1.05 As "Employee Raise", </a:t>
            </a:r>
            <a:r>
              <a:rPr lang="en-US" sz="2400" dirty="0" err="1"/>
              <a:t>department_id</a:t>
            </a:r>
            <a:r>
              <a:rPr lang="en-US" sz="2400" dirty="0"/>
              <a:t>, </a:t>
            </a:r>
            <a:r>
              <a:rPr lang="en-US" sz="2400" dirty="0" err="1"/>
              <a:t>first_name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FROM employees</a:t>
            </a:r>
          </a:p>
          <a:p>
            <a:pPr>
              <a:buNone/>
            </a:pPr>
            <a:r>
              <a:rPr lang="en-US" sz="2400" dirty="0"/>
              <a:t>WHERE </a:t>
            </a:r>
            <a:r>
              <a:rPr lang="en-US" sz="2400" dirty="0" err="1"/>
              <a:t>department_id</a:t>
            </a:r>
            <a:r>
              <a:rPr lang="en-US" sz="2400" dirty="0"/>
              <a:t> IN(50,80) </a:t>
            </a:r>
          </a:p>
          <a:p>
            <a:pPr>
              <a:buNone/>
            </a:pPr>
            <a:r>
              <a:rPr lang="en-US" sz="2400" dirty="0"/>
              <a:t>OR </a:t>
            </a:r>
            <a:r>
              <a:rPr lang="en-US" sz="2400" dirty="0" err="1"/>
              <a:t>first_name</a:t>
            </a:r>
            <a:r>
              <a:rPr lang="sr-Cyrl-RS" sz="2400" dirty="0"/>
              <a:t> </a:t>
            </a:r>
            <a:r>
              <a:rPr lang="en-US" sz="2400" dirty="0"/>
              <a:t>LIKE 'C%‘ AND </a:t>
            </a:r>
            <a:r>
              <a:rPr lang="en-US" sz="2400" dirty="0" err="1"/>
              <a:t>last_name</a:t>
            </a:r>
            <a:r>
              <a:rPr lang="sr-Cyrl-RS" sz="2400" dirty="0"/>
              <a:t> </a:t>
            </a:r>
            <a:r>
              <a:rPr lang="en-US" sz="2400" dirty="0"/>
              <a:t>LIKE '%s%';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U </a:t>
            </a:r>
            <a:r>
              <a:rPr lang="en-US" sz="2400" dirty="0" err="1"/>
              <a:t>ovom</a:t>
            </a:r>
            <a:r>
              <a:rPr lang="en-US" sz="2400" dirty="0"/>
              <a:t> </a:t>
            </a:r>
            <a:r>
              <a:rPr lang="en-US" sz="2400" dirty="0" err="1"/>
              <a:t>primeru</a:t>
            </a:r>
            <a:r>
              <a:rPr lang="en-US" sz="2400" dirty="0"/>
              <a:t> </a:t>
            </a:r>
            <a:r>
              <a:rPr lang="en-US" sz="2400" dirty="0" err="1"/>
              <a:t>prvo</a:t>
            </a:r>
            <a:r>
              <a:rPr lang="en-US" sz="2400" dirty="0"/>
              <a:t>  </a:t>
            </a:r>
            <a:r>
              <a:rPr lang="sr-Latn-BA" sz="2400" dirty="0"/>
              <a:t>će se proveriti da li zaposlenima ime počinje na </a:t>
            </a:r>
            <a:r>
              <a:rPr lang="en-US" sz="2400" dirty="0"/>
              <a:t>‘</a:t>
            </a:r>
            <a:r>
              <a:rPr lang="sr-Latn-BA" sz="2400" dirty="0"/>
              <a:t>C</a:t>
            </a:r>
            <a:r>
              <a:rPr lang="en-US" sz="2400" dirty="0"/>
              <a:t>’</a:t>
            </a:r>
            <a:r>
              <a:rPr lang="sr-Latn-BA" sz="2400" dirty="0"/>
              <a:t> i prezime sadrži </a:t>
            </a:r>
            <a:r>
              <a:rPr lang="en-US" sz="2400" dirty="0"/>
              <a:t>‘</a:t>
            </a:r>
            <a:r>
              <a:rPr lang="sr-Latn-BA" sz="2400" dirty="0"/>
              <a:t>s</a:t>
            </a:r>
            <a:r>
              <a:rPr lang="en-US" sz="2400" dirty="0"/>
              <a:t>’ (</a:t>
            </a:r>
            <a:r>
              <a:rPr lang="sr-Latn-BA" sz="2400" dirty="0"/>
              <a:t>oba uslova moraju biti ispunjena</a:t>
            </a:r>
            <a:r>
              <a:rPr lang="en-US" sz="2400" dirty="0"/>
              <a:t>)</a:t>
            </a:r>
            <a:r>
              <a:rPr lang="sr-Latn-BA" sz="2400" dirty="0"/>
              <a:t> ili radi u jednom od odeljenja 50 ili 80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/>
              <a:t>Prioritet izvršavanja operatora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BA" dirty="0"/>
              <a:t>Prioritet izvršavanja može se men</a:t>
            </a:r>
            <a:r>
              <a:rPr lang="en-US" dirty="0"/>
              <a:t>j</a:t>
            </a:r>
            <a:r>
              <a:rPr lang="sr-Latn-BA" dirty="0"/>
              <a:t>ati pomoću zagrada</a:t>
            </a:r>
            <a:endParaRPr lang="en-US" dirty="0"/>
          </a:p>
          <a:p>
            <a:pPr>
              <a:buNone/>
            </a:pPr>
            <a:r>
              <a:rPr lang="en-US" sz="2400" dirty="0"/>
              <a:t>SELECT </a:t>
            </a:r>
            <a:r>
              <a:rPr lang="en-US" sz="2400" dirty="0" err="1"/>
              <a:t>last_name</a:t>
            </a:r>
            <a:r>
              <a:rPr lang="en-US" sz="2400" dirty="0"/>
              <a:t>||' '||salary*1.05 As "Employee Raise", </a:t>
            </a:r>
            <a:r>
              <a:rPr lang="en-US" sz="2400" dirty="0" err="1"/>
              <a:t>department_id</a:t>
            </a:r>
            <a:r>
              <a:rPr lang="en-US" sz="2400" dirty="0"/>
              <a:t>, </a:t>
            </a:r>
            <a:r>
              <a:rPr lang="en-US" sz="2400" dirty="0" err="1"/>
              <a:t>first_name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FROM employees</a:t>
            </a:r>
          </a:p>
          <a:p>
            <a:pPr>
              <a:buNone/>
            </a:pPr>
            <a:r>
              <a:rPr lang="en-US" sz="2400" dirty="0"/>
              <a:t>WHERE (</a:t>
            </a:r>
            <a:r>
              <a:rPr lang="en-US" sz="2400" dirty="0" err="1"/>
              <a:t>department_id</a:t>
            </a:r>
            <a:r>
              <a:rPr lang="sr-Latn-BA" sz="2400" dirty="0"/>
              <a:t> </a:t>
            </a:r>
            <a:r>
              <a:rPr lang="en-US" sz="2400" dirty="0"/>
              <a:t>IN(50,80) OR </a:t>
            </a:r>
            <a:r>
              <a:rPr lang="en-US" sz="2400" dirty="0" err="1"/>
              <a:t>first_name</a:t>
            </a:r>
            <a:r>
              <a:rPr lang="sr-Cyrl-RS" sz="2400" dirty="0"/>
              <a:t> </a:t>
            </a:r>
            <a:r>
              <a:rPr lang="en-US" sz="2400" dirty="0"/>
              <a:t>LIKE 'C%')</a:t>
            </a:r>
          </a:p>
          <a:p>
            <a:pPr>
              <a:buNone/>
            </a:pPr>
            <a:r>
              <a:rPr lang="en-US" sz="2400" dirty="0"/>
              <a:t>AND </a:t>
            </a:r>
            <a:r>
              <a:rPr lang="en-US" sz="2400" dirty="0" err="1"/>
              <a:t>last_name</a:t>
            </a:r>
            <a:r>
              <a:rPr lang="sr-Cyrl-RS" sz="2400" dirty="0"/>
              <a:t> </a:t>
            </a:r>
            <a:r>
              <a:rPr lang="en-US" sz="2400" dirty="0"/>
              <a:t>LIKE '%s%';</a:t>
            </a:r>
            <a:endParaRPr lang="sr-Latn-BA" sz="2400" dirty="0"/>
          </a:p>
          <a:p>
            <a:pPr>
              <a:buNone/>
            </a:pPr>
            <a:r>
              <a:rPr lang="sr-Latn-BA" sz="2400" dirty="0"/>
              <a:t>U ovom primeru prvo će se izdvojiti oni koji rade u jednom od odeljenja 50 ili 80 ili im ime počinje na </a:t>
            </a:r>
            <a:r>
              <a:rPr lang="en-US" sz="2400" dirty="0"/>
              <a:t>‘</a:t>
            </a:r>
            <a:r>
              <a:rPr lang="sr-Latn-BA" sz="2400" dirty="0"/>
              <a:t>C</a:t>
            </a:r>
            <a:r>
              <a:rPr lang="en-US" sz="2400" dirty="0"/>
              <a:t>’</a:t>
            </a:r>
            <a:r>
              <a:rPr lang="sr-Latn-BA" sz="2400" dirty="0"/>
              <a:t>, a zatim će se proveriti da li im prezime sadrži slovo </a:t>
            </a:r>
            <a:r>
              <a:rPr lang="en-US" sz="2400" dirty="0"/>
              <a:t>‘</a:t>
            </a:r>
            <a:r>
              <a:rPr lang="sr-Latn-BA" sz="2400" dirty="0"/>
              <a:t>s</a:t>
            </a:r>
            <a:r>
              <a:rPr lang="en-US" sz="2400" dirty="0"/>
              <a:t>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ORDER BY </a:t>
            </a:r>
            <a:r>
              <a:rPr lang="en-US" dirty="0" err="1"/>
              <a:t>klauz</a:t>
            </a:r>
            <a:r>
              <a:rPr lang="sr-Latn-BA" dirty="0"/>
              <a:t>u</a:t>
            </a:r>
            <a:r>
              <a:rPr lang="en-US" dirty="0"/>
              <a:t>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en-US" dirty="0"/>
          </a:p>
          <a:p>
            <a:r>
              <a:rPr lang="sr-Latn-BA" sz="3400" dirty="0"/>
              <a:t>ORDER BY nam omogućava da odredimo redosled vrsti nakon upita</a:t>
            </a:r>
          </a:p>
          <a:p>
            <a:r>
              <a:rPr lang="sr-Latn-BA" sz="3400" dirty="0"/>
              <a:t>Podrazumeva se sortiranje u rastućem poretku </a:t>
            </a:r>
            <a:endParaRPr lang="en-US" sz="3400" dirty="0"/>
          </a:p>
          <a:p>
            <a:pPr>
              <a:buNone/>
            </a:pPr>
            <a:r>
              <a:rPr lang="sr-Latn-BA" sz="3400" dirty="0"/>
              <a:t>	</a:t>
            </a:r>
            <a:r>
              <a:rPr lang="en-US" sz="3400" dirty="0"/>
              <a:t>ASCENDING</a:t>
            </a:r>
            <a:r>
              <a:rPr lang="sr-Latn-BA" sz="3400" dirty="0"/>
              <a:t> (može se navesti ključna reč ASC)</a:t>
            </a:r>
          </a:p>
          <a:p>
            <a:r>
              <a:rPr lang="sr-Latn-BA" sz="3400" dirty="0"/>
              <a:t>Sortiranje u opadajućem poretku (</a:t>
            </a:r>
            <a:r>
              <a:rPr lang="en-US" sz="3400" dirty="0"/>
              <a:t>DESCENDING</a:t>
            </a:r>
            <a:r>
              <a:rPr lang="sr-Latn-BA" sz="3400" dirty="0"/>
              <a:t>)postiže se navođenjem ključne reči DESC  iza imena kolone</a:t>
            </a:r>
          </a:p>
          <a:p>
            <a:r>
              <a:rPr lang="sr-Latn-BA" sz="3400" dirty="0"/>
              <a:t>NULL vrednosti se prikazujukao  poslednje u rastućem ili kao prve u opadajućem redosledu</a:t>
            </a:r>
          </a:p>
          <a:p>
            <a:r>
              <a:rPr lang="en-US" sz="3400" dirty="0"/>
              <a:t>NULLS FIRST </a:t>
            </a:r>
            <a:r>
              <a:rPr lang="sr-Latn-BA" sz="3400" dirty="0"/>
              <a:t>opcija nam omogućava da </a:t>
            </a:r>
            <a:r>
              <a:rPr lang="en-US" sz="3400" dirty="0"/>
              <a:t> NULL </a:t>
            </a:r>
            <a:r>
              <a:rPr lang="sr-Latn-BA" sz="3400" dirty="0"/>
              <a:t>vrednosti budu pre </a:t>
            </a:r>
            <a:r>
              <a:rPr lang="en-US" sz="3400" dirty="0"/>
              <a:t> non-NULL v</a:t>
            </a:r>
            <a:r>
              <a:rPr lang="sr-Latn-BA" sz="3400" dirty="0"/>
              <a:t>rednosti</a:t>
            </a:r>
            <a:r>
              <a:rPr lang="en-US" sz="3400" dirty="0"/>
              <a:t>s. </a:t>
            </a:r>
            <a:endParaRPr lang="sr-Latn-BA" sz="3400" dirty="0"/>
          </a:p>
          <a:p>
            <a:r>
              <a:rPr lang="en-US" sz="3400" dirty="0"/>
              <a:t>NULLS LAST </a:t>
            </a:r>
            <a:r>
              <a:rPr lang="sr-Latn-BA" sz="3400" dirty="0"/>
              <a:t>opcija nam omogućava da</a:t>
            </a:r>
            <a:r>
              <a:rPr lang="en-US" sz="3400" dirty="0"/>
              <a:t> NULL </a:t>
            </a:r>
            <a:r>
              <a:rPr lang="sr-Latn-BA" sz="3400" dirty="0"/>
              <a:t>vrednosti budu nakon</a:t>
            </a:r>
            <a:r>
              <a:rPr lang="en-US" sz="3400" dirty="0"/>
              <a:t> non-NULL v</a:t>
            </a:r>
            <a:r>
              <a:rPr lang="sr-Latn-BA" sz="3400" dirty="0"/>
              <a:t>rednosti</a:t>
            </a:r>
            <a:r>
              <a:rPr lang="en-US" sz="3400" dirty="0"/>
              <a:t>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BY </a:t>
            </a:r>
            <a:r>
              <a:rPr lang="en-US" dirty="0" err="1"/>
              <a:t>klauz</a:t>
            </a:r>
            <a:r>
              <a:rPr lang="sr-Latn-BA" dirty="0"/>
              <a:t>u</a:t>
            </a:r>
            <a:r>
              <a:rPr lang="en-US" dirty="0"/>
              <a:t>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r-Latn-BA" dirty="0"/>
              <a:t>ORDER BY je klauzula koja se navodi poslednja u okviru SELECT naredbe</a:t>
            </a:r>
          </a:p>
          <a:p>
            <a:endParaRPr lang="sr-Latn-BA" dirty="0"/>
          </a:p>
          <a:p>
            <a:pPr>
              <a:buNone/>
            </a:pPr>
            <a:r>
              <a:rPr lang="en-US" sz="2400" dirty="0"/>
              <a:t>SELECT </a:t>
            </a:r>
            <a:r>
              <a:rPr lang="en-US" sz="2400" dirty="0" err="1"/>
              <a:t>last_name</a:t>
            </a:r>
            <a:r>
              <a:rPr lang="en-US" sz="2400" dirty="0"/>
              <a:t>, </a:t>
            </a:r>
            <a:r>
              <a:rPr lang="en-US" sz="2400" dirty="0" err="1"/>
              <a:t>hire_date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FROM employees</a:t>
            </a:r>
          </a:p>
          <a:p>
            <a:pPr>
              <a:buNone/>
            </a:pPr>
            <a:r>
              <a:rPr lang="en-US" sz="2400" dirty="0"/>
              <a:t>ORDER BY </a:t>
            </a:r>
            <a:r>
              <a:rPr lang="en-US" sz="2400" dirty="0" err="1"/>
              <a:t>hire_date</a:t>
            </a:r>
            <a:r>
              <a:rPr lang="en-US" sz="2400" dirty="0"/>
              <a:t>;</a:t>
            </a:r>
            <a:endParaRPr lang="sr-Latn-BA" sz="2400" dirty="0"/>
          </a:p>
          <a:p>
            <a:pPr>
              <a:buNone/>
            </a:pPr>
            <a:endParaRPr lang="sr-Latn-BA" sz="2400" dirty="0"/>
          </a:p>
          <a:p>
            <a:pPr>
              <a:buNone/>
            </a:pPr>
            <a:r>
              <a:rPr lang="en-US" sz="2400" dirty="0"/>
              <a:t>SELECT </a:t>
            </a:r>
            <a:r>
              <a:rPr lang="en-US" sz="2400" dirty="0" err="1"/>
              <a:t>last_name</a:t>
            </a:r>
            <a:r>
              <a:rPr lang="en-US" sz="2400" dirty="0"/>
              <a:t>, </a:t>
            </a:r>
            <a:r>
              <a:rPr lang="en-US" sz="2400" dirty="0" err="1"/>
              <a:t>hire_date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FROM employees</a:t>
            </a:r>
          </a:p>
          <a:p>
            <a:pPr>
              <a:buNone/>
            </a:pPr>
            <a:r>
              <a:rPr lang="en-US" sz="2400" dirty="0"/>
              <a:t>ORDER BY </a:t>
            </a:r>
            <a:r>
              <a:rPr lang="en-US" sz="2400" dirty="0" err="1"/>
              <a:t>hire_date</a:t>
            </a:r>
            <a:r>
              <a:rPr lang="sr-Cyrl-RS" sz="2400" dirty="0"/>
              <a:t> </a:t>
            </a:r>
            <a:r>
              <a:rPr lang="en-US" sz="2400" dirty="0"/>
              <a:t>DESC;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BY </a:t>
            </a:r>
            <a:r>
              <a:rPr lang="en-US" dirty="0" err="1"/>
              <a:t>klauz</a:t>
            </a:r>
            <a:r>
              <a:rPr lang="sr-Latn-BA" dirty="0"/>
              <a:t>u</a:t>
            </a:r>
            <a:r>
              <a:rPr lang="en-US" dirty="0"/>
              <a:t>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sr-Latn-BA" sz="3400" dirty="0"/>
              <a:t>Dozvoljeno je koristiti nadimke kolona (</a:t>
            </a:r>
            <a:r>
              <a:rPr lang="en-US" sz="3400" dirty="0"/>
              <a:t>column alias </a:t>
            </a:r>
            <a:r>
              <a:rPr lang="sr-Latn-BA" sz="3400" dirty="0"/>
              <a:t>) u ORDER BY klauzuli</a:t>
            </a:r>
            <a:endParaRPr lang="en-US" sz="3400" dirty="0"/>
          </a:p>
          <a:p>
            <a:pPr>
              <a:buNone/>
            </a:pPr>
            <a:r>
              <a:rPr lang="en-US" sz="3400" dirty="0"/>
              <a:t>SELECT </a:t>
            </a:r>
            <a:r>
              <a:rPr lang="en-US" sz="3400" dirty="0" err="1"/>
              <a:t>last_name</a:t>
            </a:r>
            <a:r>
              <a:rPr lang="en-US" sz="3400" dirty="0"/>
              <a:t>, </a:t>
            </a:r>
            <a:r>
              <a:rPr lang="en-US" sz="3400" dirty="0" err="1"/>
              <a:t>hire_date</a:t>
            </a:r>
            <a:r>
              <a:rPr lang="sr-Latn-BA" sz="3400" dirty="0"/>
              <a:t> </a:t>
            </a:r>
            <a:r>
              <a:rPr lang="en-US" sz="3400" dirty="0"/>
              <a:t>AS "Date Started"</a:t>
            </a:r>
          </a:p>
          <a:p>
            <a:pPr>
              <a:buNone/>
            </a:pPr>
            <a:r>
              <a:rPr lang="en-US" sz="3400" dirty="0"/>
              <a:t>FROM employees</a:t>
            </a:r>
            <a:endParaRPr lang="sr-Cyrl-RS" sz="3400" dirty="0"/>
          </a:p>
          <a:p>
            <a:pPr>
              <a:buNone/>
            </a:pPr>
            <a:r>
              <a:rPr lang="en-US" sz="3400" dirty="0"/>
              <a:t>ORDER BY "Date Started";</a:t>
            </a:r>
            <a:endParaRPr lang="sr-Latn-BA" sz="3400" dirty="0"/>
          </a:p>
          <a:p>
            <a:pPr>
              <a:buNone/>
            </a:pPr>
            <a:endParaRPr lang="sr-Latn-BA" sz="3400" dirty="0"/>
          </a:p>
          <a:p>
            <a:r>
              <a:rPr lang="sr-Latn-BA" sz="3400" dirty="0"/>
              <a:t>Moguće je koristiti u ORDER BY klauzuli kolone koje nisu navedene u SELECT klauzuli</a:t>
            </a:r>
            <a:endParaRPr lang="en-US" sz="3400" dirty="0"/>
          </a:p>
          <a:p>
            <a:pPr>
              <a:buNone/>
            </a:pPr>
            <a:r>
              <a:rPr lang="en-US" sz="3400" dirty="0"/>
              <a:t>SELECT </a:t>
            </a:r>
            <a:r>
              <a:rPr lang="en-US" sz="3400" dirty="0" err="1"/>
              <a:t>employee_id</a:t>
            </a:r>
            <a:r>
              <a:rPr lang="en-US" sz="3400" dirty="0"/>
              <a:t>, </a:t>
            </a:r>
            <a:r>
              <a:rPr lang="en-US" sz="3400" dirty="0" err="1"/>
              <a:t>first_name</a:t>
            </a:r>
            <a:endParaRPr lang="en-US" sz="3400" dirty="0"/>
          </a:p>
          <a:p>
            <a:pPr>
              <a:buNone/>
            </a:pPr>
            <a:r>
              <a:rPr lang="en-US" sz="3400" dirty="0"/>
              <a:t>FROM employees</a:t>
            </a:r>
          </a:p>
          <a:p>
            <a:pPr>
              <a:buNone/>
            </a:pPr>
            <a:r>
              <a:rPr lang="en-US" sz="3400" dirty="0"/>
              <a:t>WHERE </a:t>
            </a:r>
            <a:r>
              <a:rPr lang="en-US" sz="3400" dirty="0" err="1"/>
              <a:t>employee_id</a:t>
            </a:r>
            <a:r>
              <a:rPr lang="en-US" sz="3400" dirty="0"/>
              <a:t> &lt; 105</a:t>
            </a:r>
          </a:p>
          <a:p>
            <a:pPr>
              <a:buNone/>
            </a:pPr>
            <a:r>
              <a:rPr lang="en-US" sz="3400" dirty="0"/>
              <a:t>ORDER BY </a:t>
            </a:r>
            <a:r>
              <a:rPr lang="en-US" sz="3400" dirty="0" err="1"/>
              <a:t>last_name</a:t>
            </a:r>
            <a:r>
              <a:rPr lang="en-US" sz="3400" dirty="0"/>
              <a:t>;</a:t>
            </a:r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BY </a:t>
            </a:r>
            <a:r>
              <a:rPr lang="en-US" dirty="0" err="1"/>
              <a:t>klauz</a:t>
            </a:r>
            <a:r>
              <a:rPr lang="sr-Latn-BA" dirty="0"/>
              <a:t>u</a:t>
            </a:r>
            <a:r>
              <a:rPr lang="en-US" dirty="0"/>
              <a:t>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lang="en-US" dirty="0"/>
          </a:p>
          <a:p>
            <a:r>
              <a:rPr lang="sr-Latn-BA" dirty="0"/>
              <a:t>Moguće je da rezultat upita bude sortiran po više kolona</a:t>
            </a:r>
            <a:endParaRPr lang="en-US" dirty="0"/>
          </a:p>
          <a:p>
            <a:r>
              <a:rPr lang="sr-Latn-BA" dirty="0"/>
              <a:t>Iza ključne reči ORDER BY nazivi kolona se navode razdvojeni zarezima</a:t>
            </a:r>
          </a:p>
          <a:p>
            <a:r>
              <a:rPr lang="sr-Latn-BA" dirty="0"/>
              <a:t>Ako se iza naziva kolone navede DESC po toj koloni sortiranje će biti u opadajućem poretku</a:t>
            </a:r>
            <a:endParaRPr lang="en-US" dirty="0"/>
          </a:p>
          <a:p>
            <a:endParaRPr lang="en-US" dirty="0"/>
          </a:p>
          <a:p>
            <a:pPr>
              <a:buNone/>
            </a:pPr>
            <a:r>
              <a:rPr lang="en-US" dirty="0"/>
              <a:t>SELECT </a:t>
            </a:r>
            <a:r>
              <a:rPr lang="en-US" dirty="0" err="1"/>
              <a:t>department_id</a:t>
            </a:r>
            <a:r>
              <a:rPr lang="en-US" dirty="0"/>
              <a:t>, </a:t>
            </a:r>
            <a:r>
              <a:rPr lang="en-US" dirty="0" err="1"/>
              <a:t>last_name</a:t>
            </a:r>
            <a:endParaRPr lang="en-US" dirty="0"/>
          </a:p>
          <a:p>
            <a:pPr>
              <a:buNone/>
            </a:pPr>
            <a:r>
              <a:rPr lang="en-US" dirty="0"/>
              <a:t>FROM employees</a:t>
            </a:r>
          </a:p>
          <a:p>
            <a:pPr>
              <a:buNone/>
            </a:pPr>
            <a:r>
              <a:rPr lang="en-US" dirty="0"/>
              <a:t>WHERE </a:t>
            </a:r>
            <a:r>
              <a:rPr lang="en-US" dirty="0" err="1"/>
              <a:t>department_id</a:t>
            </a:r>
            <a:r>
              <a:rPr lang="en-US" dirty="0"/>
              <a:t>&lt;= 50 </a:t>
            </a:r>
          </a:p>
          <a:p>
            <a:pPr>
              <a:buNone/>
            </a:pPr>
            <a:r>
              <a:rPr lang="en-US" dirty="0"/>
              <a:t>ORDER BY </a:t>
            </a:r>
            <a:r>
              <a:rPr lang="en-US" dirty="0" err="1"/>
              <a:t>department_id</a:t>
            </a:r>
            <a:r>
              <a:rPr lang="sr-Latn-BA" dirty="0"/>
              <a:t> </a:t>
            </a:r>
            <a:r>
              <a:rPr lang="en-US" dirty="0"/>
              <a:t>DESC, </a:t>
            </a:r>
            <a:r>
              <a:rPr lang="en-US" dirty="0" err="1"/>
              <a:t>last_name</a:t>
            </a:r>
            <a:r>
              <a:rPr lang="en-US" dirty="0"/>
              <a:t>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/>
              <a:t>Redni upit nad jednom tabelom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sr-Latn-BA" dirty="0"/>
              <a:t>Prost upit koji kao rezultat daje ni jedan red, jedan red ili niz redova podataka kod kojih svaki red odgovara podacima iz jednog reda tabele koji zadovoljavaju eventualno zadati uslov</a:t>
            </a:r>
          </a:p>
          <a:p>
            <a:r>
              <a:rPr lang="sr-Latn-BA" dirty="0"/>
              <a:t>Redosled izvršavanja SELECT naredbe je sledeći:</a:t>
            </a:r>
          </a:p>
          <a:p>
            <a:pPr marL="514350" indent="-514350">
              <a:buFont typeface="+mj-lt"/>
              <a:buAutoNum type="arabicPeriod"/>
            </a:pPr>
            <a:r>
              <a:rPr lang="sr-Latn-BA" dirty="0"/>
              <a:t>FROM klauzula koja locira tabelu koja sadrži podatke</a:t>
            </a:r>
          </a:p>
          <a:p>
            <a:pPr marL="514350" indent="-514350">
              <a:buFont typeface="+mj-lt"/>
              <a:buAutoNum type="arabicPeriod"/>
            </a:pPr>
            <a:r>
              <a:rPr lang="sr-Latn-BA" dirty="0"/>
              <a:t>WHERE klauzula koja vrši restrikciju vrsta koje se vraćaju</a:t>
            </a:r>
          </a:p>
          <a:p>
            <a:pPr marL="514350" indent="-514350">
              <a:buFont typeface="+mj-lt"/>
              <a:buAutoNum type="arabicPeriod"/>
            </a:pPr>
            <a:r>
              <a:rPr lang="sr-Latn-BA" dirty="0"/>
              <a:t>SELECT klauzula koja vrši projekciju kolona koje će se prikazati</a:t>
            </a:r>
          </a:p>
          <a:p>
            <a:pPr marL="514350" indent="-514350">
              <a:buFont typeface="+mj-lt"/>
              <a:buAutoNum type="arabicPeriod"/>
            </a:pPr>
            <a:r>
              <a:rPr lang="sr-Latn-BA" dirty="0"/>
              <a:t>ORDER BY klauzula koja određuje redosled u rezultatu upita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Doma</a:t>
            </a:r>
            <a:r>
              <a:rPr lang="sr-Latn-BA" dirty="0"/>
              <a:t>ći zadatak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sz="2000"/>
              <a:t>Napisati</a:t>
            </a:r>
            <a:r>
              <a:rPr lang="en-US" sz="2000" dirty="0"/>
              <a:t> </a:t>
            </a:r>
            <a:r>
              <a:rPr lang="en-US" sz="2000" dirty="0" err="1"/>
              <a:t>naredbu</a:t>
            </a:r>
            <a:r>
              <a:rPr lang="en-US" sz="2000" dirty="0"/>
              <a:t> </a:t>
            </a:r>
            <a:r>
              <a:rPr lang="en-US" sz="2000" dirty="0" err="1"/>
              <a:t>koja</a:t>
            </a:r>
            <a:r>
              <a:rPr lang="en-US" sz="2000" dirty="0"/>
              <a:t> </a:t>
            </a:r>
            <a:r>
              <a:rPr lang="en-US" sz="2000" dirty="0" err="1"/>
              <a:t>ispisuje</a:t>
            </a:r>
            <a:r>
              <a:rPr lang="en-US" sz="2000" dirty="0"/>
              <a:t> </a:t>
            </a:r>
            <a:r>
              <a:rPr lang="en-US" sz="2000" dirty="0" err="1"/>
              <a:t>prezimena</a:t>
            </a:r>
            <a:r>
              <a:rPr lang="en-US" sz="2000" dirty="0"/>
              <a:t> (</a:t>
            </a:r>
            <a:r>
              <a:rPr lang="en-US" sz="2000" dirty="0" err="1"/>
              <a:t>last_name</a:t>
            </a:r>
            <a:r>
              <a:rPr lang="en-US" sz="2000" dirty="0"/>
              <a:t>) </a:t>
            </a:r>
            <a:r>
              <a:rPr lang="en-US" sz="2000" dirty="0" err="1"/>
              <a:t>zaposlenih</a:t>
            </a:r>
            <a:r>
              <a:rPr lang="en-US" sz="2000" dirty="0"/>
              <a:t> (</a:t>
            </a:r>
            <a:r>
              <a:rPr lang="en-US" sz="2000" dirty="0" err="1"/>
              <a:t>f_staffs</a:t>
            </a:r>
            <a:r>
              <a:rPr lang="en-US" sz="2000" dirty="0"/>
              <a:t>) </a:t>
            </a:r>
            <a:r>
              <a:rPr lang="en-US" sz="2000" dirty="0" err="1"/>
              <a:t>koji</a:t>
            </a:r>
            <a:r>
              <a:rPr lang="en-US" sz="2000" dirty="0"/>
              <a:t> </a:t>
            </a:r>
            <a:r>
              <a:rPr lang="en-US" sz="2000" dirty="0" err="1"/>
              <a:t>imaju</a:t>
            </a:r>
            <a:r>
              <a:rPr lang="en-US" sz="2000" dirty="0"/>
              <a:t> </a:t>
            </a:r>
            <a:r>
              <a:rPr lang="en-US" sz="2000" dirty="0" err="1"/>
              <a:t>platu</a:t>
            </a:r>
            <a:r>
              <a:rPr lang="en-US" sz="2000" dirty="0"/>
              <a:t> (salary) </a:t>
            </a:r>
            <a:r>
              <a:rPr lang="en-US" sz="2000" dirty="0" err="1"/>
              <a:t>višu</a:t>
            </a:r>
            <a:r>
              <a:rPr lang="en-US" sz="2000" dirty="0"/>
              <a:t> </a:t>
            </a:r>
            <a:r>
              <a:rPr lang="en-US" sz="2000" dirty="0" err="1"/>
              <a:t>od</a:t>
            </a:r>
            <a:r>
              <a:rPr lang="en-US" sz="2000" dirty="0"/>
              <a:t> $6.50 </a:t>
            </a:r>
            <a:r>
              <a:rPr lang="en-US" sz="2000" dirty="0" err="1"/>
              <a:t>po</a:t>
            </a:r>
            <a:r>
              <a:rPr lang="en-US" sz="2000" dirty="0"/>
              <a:t> </a:t>
            </a:r>
            <a:r>
              <a:rPr lang="en-US" sz="2000" dirty="0" err="1"/>
              <a:t>satu</a:t>
            </a:r>
            <a:r>
              <a:rPr lang="en-US" sz="2000" dirty="0"/>
              <a:t>, a </a:t>
            </a:r>
            <a:r>
              <a:rPr lang="en-US" sz="2000" dirty="0" err="1"/>
              <a:t>njihova</a:t>
            </a:r>
            <a:r>
              <a:rPr lang="en-US" sz="2000" dirty="0"/>
              <a:t> </a:t>
            </a:r>
            <a:r>
              <a:rPr lang="en-US" sz="2000" dirty="0" err="1"/>
              <a:t>pozicija</a:t>
            </a:r>
            <a:r>
              <a:rPr lang="en-US" sz="2000" dirty="0"/>
              <a:t> (</a:t>
            </a:r>
            <a:r>
              <a:rPr lang="en-US" sz="2000" dirty="0" err="1"/>
              <a:t>staff_type</a:t>
            </a:r>
            <a:r>
              <a:rPr lang="en-US" sz="2000" dirty="0"/>
              <a:t>) </a:t>
            </a:r>
            <a:r>
              <a:rPr lang="en-US" sz="2000" dirty="0" err="1"/>
              <a:t>nije</a:t>
            </a:r>
            <a:r>
              <a:rPr lang="en-US" sz="2000" dirty="0"/>
              <a:t> Order Taker.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000" dirty="0"/>
              <a:t> </a:t>
            </a:r>
            <a:r>
              <a:rPr lang="en-US" sz="2000" dirty="0" err="1"/>
              <a:t>Napisati</a:t>
            </a:r>
            <a:r>
              <a:rPr lang="en-US" sz="2000" dirty="0"/>
              <a:t> </a:t>
            </a:r>
            <a:r>
              <a:rPr lang="en-US" sz="2000" dirty="0" err="1"/>
              <a:t>naredbu</a:t>
            </a:r>
            <a:r>
              <a:rPr lang="en-US" sz="2000" dirty="0"/>
              <a:t> </a:t>
            </a:r>
            <a:r>
              <a:rPr lang="en-US" sz="2000" dirty="0" err="1"/>
              <a:t>za</a:t>
            </a:r>
            <a:r>
              <a:rPr lang="en-US" sz="2000" dirty="0"/>
              <a:t> </a:t>
            </a:r>
            <a:r>
              <a:rPr lang="en-US" sz="2000" dirty="0" err="1"/>
              <a:t>ispis</a:t>
            </a:r>
            <a:r>
              <a:rPr lang="en-US" sz="2000" dirty="0"/>
              <a:t> </a:t>
            </a:r>
            <a:r>
              <a:rPr lang="en-US" sz="2000" dirty="0" err="1"/>
              <a:t>prezimena</a:t>
            </a:r>
            <a:r>
              <a:rPr lang="en-US" sz="2000" dirty="0"/>
              <a:t> (</a:t>
            </a:r>
            <a:r>
              <a:rPr lang="en-US" sz="2000" dirty="0" err="1"/>
              <a:t>last_name</a:t>
            </a:r>
            <a:r>
              <a:rPr lang="en-US" sz="2000" dirty="0"/>
              <a:t>) </a:t>
            </a:r>
            <a:r>
              <a:rPr lang="en-US" sz="2000" dirty="0" err="1"/>
              <a:t>zaposlenih</a:t>
            </a:r>
            <a:r>
              <a:rPr lang="en-US" sz="2000" dirty="0"/>
              <a:t> (employees) </a:t>
            </a:r>
            <a:r>
              <a:rPr lang="en-US" sz="2000" dirty="0" err="1"/>
              <a:t>čije</a:t>
            </a:r>
            <a:r>
              <a:rPr lang="en-US" sz="2000" dirty="0"/>
              <a:t> </a:t>
            </a:r>
            <a:r>
              <a:rPr lang="en-US" sz="2000" dirty="0" err="1"/>
              <a:t>prezime</a:t>
            </a:r>
            <a:r>
              <a:rPr lang="en-US" sz="2000" dirty="0"/>
              <a:t> </a:t>
            </a:r>
            <a:r>
              <a:rPr lang="en-US" sz="2000" dirty="0" err="1"/>
              <a:t>počinje</a:t>
            </a:r>
            <a:r>
              <a:rPr lang="en-US" sz="2000" dirty="0"/>
              <a:t> </a:t>
            </a:r>
            <a:r>
              <a:rPr lang="en-US" sz="2000" dirty="0" err="1"/>
              <a:t>na</a:t>
            </a:r>
            <a:r>
              <a:rPr lang="en-US" sz="2000" dirty="0"/>
              <a:t> ‘D’  u </a:t>
            </a:r>
            <a:r>
              <a:rPr lang="en-US" sz="2000" dirty="0" err="1"/>
              <a:t>prezimenu</a:t>
            </a:r>
            <a:r>
              <a:rPr lang="en-US" sz="2000" dirty="0"/>
              <a:t> </a:t>
            </a:r>
            <a:r>
              <a:rPr lang="en-US" sz="2000" dirty="0" err="1"/>
              <a:t>imaju</a:t>
            </a:r>
            <a:r>
              <a:rPr lang="en-US" sz="2000" dirty="0"/>
              <a:t> </a:t>
            </a:r>
            <a:r>
              <a:rPr lang="en-US" sz="2000" dirty="0" err="1"/>
              <a:t>slova</a:t>
            </a:r>
            <a:r>
              <a:rPr lang="en-US" sz="2000" dirty="0"/>
              <a:t> ‘a’ </a:t>
            </a:r>
            <a:r>
              <a:rPr lang="en-US" sz="2000" dirty="0" err="1"/>
              <a:t>i</a:t>
            </a:r>
            <a:r>
              <a:rPr lang="en-US" sz="2000" dirty="0"/>
              <a:t> ‘e’ </a:t>
            </a:r>
            <a:r>
              <a:rPr lang="en-US" sz="2000" dirty="0" err="1"/>
              <a:t>na</a:t>
            </a:r>
            <a:r>
              <a:rPr lang="en-US" sz="2000" dirty="0"/>
              <a:t> </a:t>
            </a:r>
            <a:r>
              <a:rPr lang="en-US" sz="2000" dirty="0" err="1"/>
              <a:t>bilo</a:t>
            </a:r>
            <a:r>
              <a:rPr lang="en-US" sz="2000" dirty="0"/>
              <a:t> </a:t>
            </a:r>
            <a:r>
              <a:rPr lang="en-US" sz="2000" dirty="0" err="1"/>
              <a:t>kojoj</a:t>
            </a:r>
            <a:r>
              <a:rPr lang="en-US" sz="2000" dirty="0"/>
              <a:t> </a:t>
            </a:r>
            <a:r>
              <a:rPr lang="en-US" sz="2000" dirty="0" err="1"/>
              <a:t>poziciji</a:t>
            </a:r>
            <a:r>
              <a:rPr lang="en-US" sz="2000" dirty="0"/>
              <a:t>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000" dirty="0"/>
              <a:t> </a:t>
            </a:r>
            <a:r>
              <a:rPr lang="en-US" sz="2000" dirty="0" err="1"/>
              <a:t>Napisati</a:t>
            </a:r>
            <a:r>
              <a:rPr lang="en-US" sz="2000" dirty="0"/>
              <a:t> </a:t>
            </a:r>
            <a:r>
              <a:rPr lang="en-US" sz="2000" dirty="0" err="1"/>
              <a:t>naredbu</a:t>
            </a:r>
            <a:r>
              <a:rPr lang="en-US" sz="2000" dirty="0"/>
              <a:t> </a:t>
            </a:r>
            <a:r>
              <a:rPr lang="en-US" sz="2000" dirty="0" err="1"/>
              <a:t>koja</a:t>
            </a:r>
            <a:r>
              <a:rPr lang="en-US" sz="2000" dirty="0"/>
              <a:t> </a:t>
            </a:r>
            <a:r>
              <a:rPr lang="en-US" sz="2000" dirty="0" err="1"/>
              <a:t>ispisuje</a:t>
            </a:r>
            <a:r>
              <a:rPr lang="en-US" sz="2000" dirty="0"/>
              <a:t> </a:t>
            </a:r>
            <a:r>
              <a:rPr lang="en-US" sz="2000" dirty="0" err="1"/>
              <a:t>ime</a:t>
            </a:r>
            <a:r>
              <a:rPr lang="en-US" sz="2000" dirty="0"/>
              <a:t> (</a:t>
            </a:r>
            <a:r>
              <a:rPr lang="en-US" sz="2000" dirty="0" err="1"/>
              <a:t>first_name</a:t>
            </a:r>
            <a:r>
              <a:rPr lang="en-US" sz="2000" dirty="0"/>
              <a:t>), </a:t>
            </a:r>
            <a:r>
              <a:rPr lang="en-US" sz="2000" dirty="0" err="1"/>
              <a:t>prezime</a:t>
            </a:r>
            <a:r>
              <a:rPr lang="en-US" sz="2000" dirty="0"/>
              <a:t> (</a:t>
            </a:r>
            <a:r>
              <a:rPr lang="en-US" sz="2000" dirty="0" err="1"/>
              <a:t>last_name</a:t>
            </a:r>
            <a:r>
              <a:rPr lang="en-US" sz="2000" dirty="0"/>
              <a:t>), email </a:t>
            </a:r>
            <a:r>
              <a:rPr lang="en-US" sz="2000" dirty="0" err="1"/>
              <a:t>adresu</a:t>
            </a:r>
            <a:r>
              <a:rPr lang="en-US" sz="2000" dirty="0"/>
              <a:t> (email) </a:t>
            </a:r>
            <a:r>
              <a:rPr lang="en-US" sz="2000" dirty="0" err="1"/>
              <a:t>za</a:t>
            </a:r>
            <a:r>
              <a:rPr lang="en-US" sz="2000" dirty="0"/>
              <a:t> </a:t>
            </a:r>
            <a:r>
              <a:rPr lang="en-US" sz="2000" dirty="0" err="1"/>
              <a:t>zaposlene</a:t>
            </a:r>
            <a:r>
              <a:rPr lang="en-US" sz="2000" dirty="0"/>
              <a:t> </a:t>
            </a:r>
            <a:r>
              <a:rPr lang="en-US" sz="2000" dirty="0" err="1"/>
              <a:t>koji</a:t>
            </a:r>
            <a:r>
              <a:rPr lang="en-US" sz="2000" dirty="0"/>
              <a:t> </a:t>
            </a:r>
            <a:r>
              <a:rPr lang="en-US" sz="2000" dirty="0" err="1"/>
              <a:t>su</a:t>
            </a:r>
            <a:r>
              <a:rPr lang="en-US" sz="2000" dirty="0"/>
              <a:t> se </a:t>
            </a:r>
            <a:r>
              <a:rPr lang="en-US" sz="2000" dirty="0" err="1"/>
              <a:t>zaposlili</a:t>
            </a:r>
            <a:r>
              <a:rPr lang="en-US" sz="2000" dirty="0"/>
              <a:t> u </a:t>
            </a:r>
            <a:r>
              <a:rPr lang="en-US" sz="2000" dirty="0" err="1"/>
              <a:t>toku</a:t>
            </a:r>
            <a:r>
              <a:rPr lang="en-US" sz="2000" dirty="0"/>
              <a:t> 1996. </a:t>
            </a:r>
            <a:r>
              <a:rPr lang="en-US" sz="2000" dirty="0" err="1"/>
              <a:t>godine</a:t>
            </a:r>
            <a:r>
              <a:rPr lang="en-US" sz="2000" dirty="0"/>
              <a:t>, </a:t>
            </a:r>
            <a:r>
              <a:rPr lang="en-US" sz="2000" dirty="0" err="1"/>
              <a:t>imaju</a:t>
            </a:r>
            <a:r>
              <a:rPr lang="en-US" sz="2000" dirty="0"/>
              <a:t> </a:t>
            </a:r>
            <a:r>
              <a:rPr lang="en-US" sz="2000" dirty="0" err="1"/>
              <a:t>platu</a:t>
            </a:r>
            <a:r>
              <a:rPr lang="en-US" sz="2000" dirty="0"/>
              <a:t> </a:t>
            </a:r>
            <a:r>
              <a:rPr lang="en-US" sz="2000" dirty="0" err="1"/>
              <a:t>višu</a:t>
            </a:r>
            <a:r>
              <a:rPr lang="en-US" sz="2000" dirty="0"/>
              <a:t> </a:t>
            </a:r>
            <a:r>
              <a:rPr lang="en-US" sz="2000" dirty="0" err="1"/>
              <a:t>od</a:t>
            </a:r>
            <a:r>
              <a:rPr lang="en-US" sz="2000" dirty="0"/>
              <a:t> 9000$ a </a:t>
            </a:r>
            <a:r>
              <a:rPr lang="en-US" sz="2000" dirty="0" err="1"/>
              <a:t>nemaju</a:t>
            </a:r>
            <a:r>
              <a:rPr lang="en-US" sz="2000" dirty="0"/>
              <a:t> </a:t>
            </a:r>
            <a:r>
              <a:rPr lang="en-US" sz="2000" dirty="0" err="1"/>
              <a:t>proviziju</a:t>
            </a:r>
            <a:r>
              <a:rPr lang="en-US" sz="2000" dirty="0"/>
              <a:t> (</a:t>
            </a:r>
            <a:r>
              <a:rPr lang="en-US" sz="2000" dirty="0" err="1"/>
              <a:t>commission_pct</a:t>
            </a:r>
            <a:r>
              <a:rPr lang="en-US" sz="2000" dirty="0"/>
              <a:t>).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000" dirty="0"/>
              <a:t> </a:t>
            </a:r>
            <a:r>
              <a:rPr lang="en-US" sz="2000" dirty="0" err="1"/>
              <a:t>Napisati</a:t>
            </a:r>
            <a:r>
              <a:rPr lang="en-US" sz="2000" dirty="0"/>
              <a:t> </a:t>
            </a:r>
            <a:r>
              <a:rPr lang="en-US" sz="2000" dirty="0" err="1"/>
              <a:t>naredbu</a:t>
            </a:r>
            <a:r>
              <a:rPr lang="en-US" sz="2000" dirty="0"/>
              <a:t> </a:t>
            </a:r>
            <a:r>
              <a:rPr lang="en-US" sz="2000" dirty="0" err="1"/>
              <a:t>koja</a:t>
            </a:r>
            <a:r>
              <a:rPr lang="en-US" sz="2000" dirty="0"/>
              <a:t> </a:t>
            </a:r>
            <a:r>
              <a:rPr lang="en-US" sz="2000" dirty="0" err="1"/>
              <a:t>ispisuje</a:t>
            </a:r>
            <a:r>
              <a:rPr lang="en-US" sz="2000" dirty="0"/>
              <a:t> </a:t>
            </a:r>
            <a:r>
              <a:rPr lang="en-US" sz="2000" dirty="0" err="1"/>
              <a:t>naslove</a:t>
            </a:r>
            <a:r>
              <a:rPr lang="en-US" sz="2000" dirty="0"/>
              <a:t> CD-ova (title), </a:t>
            </a:r>
            <a:r>
              <a:rPr lang="en-US" sz="2000" dirty="0" err="1"/>
              <a:t>godinu</a:t>
            </a:r>
            <a:r>
              <a:rPr lang="en-US" sz="2000" dirty="0"/>
              <a:t> </a:t>
            </a:r>
            <a:r>
              <a:rPr lang="en-US" sz="2000" dirty="0" err="1"/>
              <a:t>izdanja</a:t>
            </a:r>
            <a:r>
              <a:rPr lang="en-US" sz="2000" dirty="0"/>
              <a:t> (year) </a:t>
            </a:r>
            <a:r>
              <a:rPr lang="en-US" sz="2000" dirty="0" err="1"/>
              <a:t>za</a:t>
            </a:r>
            <a:r>
              <a:rPr lang="en-US" sz="2000" dirty="0"/>
              <a:t> </a:t>
            </a:r>
            <a:r>
              <a:rPr lang="en-US" sz="2000" dirty="0" err="1"/>
              <a:t>diskove</a:t>
            </a:r>
            <a:r>
              <a:rPr lang="en-US" sz="2000" dirty="0"/>
              <a:t> (</a:t>
            </a:r>
            <a:r>
              <a:rPr lang="en-US" sz="2000" dirty="0" err="1"/>
              <a:t>d_cds</a:t>
            </a:r>
            <a:r>
              <a:rPr lang="en-US" sz="2000" dirty="0"/>
              <a:t>) </a:t>
            </a:r>
            <a:r>
              <a:rPr lang="en-US" sz="2000" dirty="0" err="1"/>
              <a:t>sortirano</a:t>
            </a:r>
            <a:r>
              <a:rPr lang="en-US" sz="2000" dirty="0"/>
              <a:t> </a:t>
            </a:r>
            <a:r>
              <a:rPr lang="en-US" sz="2000" dirty="0" err="1"/>
              <a:t>po</a:t>
            </a:r>
            <a:r>
              <a:rPr lang="en-US" sz="2000" dirty="0"/>
              <a:t> </a:t>
            </a:r>
            <a:r>
              <a:rPr lang="en-US" sz="2000" dirty="0" err="1"/>
              <a:t>naslovima</a:t>
            </a:r>
            <a:r>
              <a:rPr lang="en-US" sz="2000" dirty="0"/>
              <a:t> u </a:t>
            </a:r>
            <a:r>
              <a:rPr lang="en-US" sz="2000" dirty="0" err="1"/>
              <a:t>okviru</a:t>
            </a:r>
            <a:r>
              <a:rPr lang="en-US" sz="2000" dirty="0"/>
              <a:t> </a:t>
            </a:r>
            <a:r>
              <a:rPr lang="en-US" sz="2000" dirty="0" err="1"/>
              <a:t>godine</a:t>
            </a:r>
            <a:r>
              <a:rPr lang="en-US" sz="2000" dirty="0"/>
              <a:t> </a:t>
            </a:r>
            <a:r>
              <a:rPr lang="en-US" sz="2000" dirty="0" err="1"/>
              <a:t>izdanja</a:t>
            </a:r>
            <a:r>
              <a:rPr lang="en-US" sz="2000" dirty="0"/>
              <a:t>, </a:t>
            </a:r>
            <a:r>
              <a:rPr lang="en-US" sz="2000" dirty="0" err="1"/>
              <a:t>koristeći</a:t>
            </a:r>
            <a:r>
              <a:rPr lang="en-US" sz="2000" dirty="0"/>
              <a:t> </a:t>
            </a:r>
            <a:r>
              <a:rPr lang="en-US" sz="2000" dirty="0" err="1"/>
              <a:t>bazu</a:t>
            </a:r>
            <a:r>
              <a:rPr lang="en-US" sz="2000" dirty="0"/>
              <a:t> DJs on Demand.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000" dirty="0"/>
              <a:t> </a:t>
            </a:r>
            <a:r>
              <a:rPr lang="en-US" sz="2000" dirty="0" err="1"/>
              <a:t>Napisati</a:t>
            </a:r>
            <a:r>
              <a:rPr lang="en-US" sz="2000" dirty="0"/>
              <a:t> </a:t>
            </a:r>
            <a:r>
              <a:rPr lang="en-US" sz="2000" dirty="0" err="1"/>
              <a:t>naredbu</a:t>
            </a:r>
            <a:r>
              <a:rPr lang="en-US" sz="2000" dirty="0"/>
              <a:t> </a:t>
            </a:r>
            <a:r>
              <a:rPr lang="en-US" sz="2000" dirty="0" err="1"/>
              <a:t>koja</a:t>
            </a:r>
            <a:r>
              <a:rPr lang="en-US" sz="2000" dirty="0"/>
              <a:t> </a:t>
            </a:r>
            <a:r>
              <a:rPr lang="en-US" sz="2000" dirty="0" err="1"/>
              <a:t>ispisuje</a:t>
            </a:r>
            <a:r>
              <a:rPr lang="en-US" sz="2000" dirty="0"/>
              <a:t> </a:t>
            </a:r>
            <a:r>
              <a:rPr lang="en-US" sz="2000" dirty="0" err="1"/>
              <a:t>naslove</a:t>
            </a:r>
            <a:r>
              <a:rPr lang="en-US" sz="2000" dirty="0"/>
              <a:t> CD-ova (title), </a:t>
            </a:r>
            <a:r>
              <a:rPr lang="en-US" sz="2000" dirty="0" err="1"/>
              <a:t>za</a:t>
            </a:r>
            <a:r>
              <a:rPr lang="en-US" sz="2000" dirty="0"/>
              <a:t> </a:t>
            </a:r>
            <a:r>
              <a:rPr lang="en-US" sz="2000" dirty="0" err="1"/>
              <a:t>diskove</a:t>
            </a:r>
            <a:r>
              <a:rPr lang="en-US" sz="2000" dirty="0"/>
              <a:t> (</a:t>
            </a:r>
            <a:r>
              <a:rPr lang="en-US" sz="2000" dirty="0" err="1"/>
              <a:t>d_cds</a:t>
            </a:r>
            <a:r>
              <a:rPr lang="en-US" sz="2000" dirty="0"/>
              <a:t>) </a:t>
            </a:r>
            <a:r>
              <a:rPr lang="en-US" sz="2000" dirty="0" err="1"/>
              <a:t>sortirano</a:t>
            </a:r>
            <a:r>
              <a:rPr lang="en-US" sz="2000" dirty="0"/>
              <a:t> </a:t>
            </a:r>
            <a:r>
              <a:rPr lang="en-US" sz="2000" dirty="0" err="1"/>
              <a:t>po</a:t>
            </a:r>
            <a:r>
              <a:rPr lang="en-US" sz="2000" dirty="0"/>
              <a:t> </a:t>
            </a:r>
            <a:r>
              <a:rPr lang="en-US" sz="2000" dirty="0" err="1"/>
              <a:t>naslovima</a:t>
            </a:r>
            <a:r>
              <a:rPr lang="en-US" sz="2000" dirty="0"/>
              <a:t> u </a:t>
            </a:r>
            <a:r>
              <a:rPr lang="en-US" sz="2000" dirty="0" err="1"/>
              <a:t>opadajućem</a:t>
            </a:r>
            <a:r>
              <a:rPr lang="en-US" sz="2000" dirty="0"/>
              <a:t> </a:t>
            </a:r>
            <a:r>
              <a:rPr lang="en-US" sz="2000" dirty="0" err="1"/>
              <a:t>redosledu</a:t>
            </a:r>
            <a:r>
              <a:rPr lang="en-US" sz="2000" dirty="0"/>
              <a:t>. U </a:t>
            </a:r>
            <a:r>
              <a:rPr lang="en-US" sz="2000" dirty="0" err="1"/>
              <a:t>zaglavlju</a:t>
            </a:r>
            <a:r>
              <a:rPr lang="en-US" sz="2000" dirty="0"/>
              <a:t> </a:t>
            </a:r>
            <a:r>
              <a:rPr lang="en-US" sz="2000" dirty="0" err="1"/>
              <a:t>kolone</a:t>
            </a:r>
            <a:r>
              <a:rPr lang="en-US" sz="2000" dirty="0"/>
              <a:t>  </a:t>
            </a:r>
            <a:r>
              <a:rPr lang="en-US" sz="2000" dirty="0" err="1"/>
              <a:t>napisati</a:t>
            </a:r>
            <a:r>
              <a:rPr lang="en-US" sz="2000" dirty="0"/>
              <a:t>  "Our Collection" . </a:t>
            </a:r>
            <a:r>
              <a:rPr lang="en-US" sz="2000" dirty="0" err="1"/>
              <a:t>Koristiti</a:t>
            </a:r>
            <a:r>
              <a:rPr lang="en-US" sz="2000" dirty="0"/>
              <a:t> </a:t>
            </a:r>
            <a:r>
              <a:rPr lang="en-US" sz="2000" dirty="0" err="1"/>
              <a:t>bazu</a:t>
            </a:r>
            <a:r>
              <a:rPr lang="en-US" sz="2000" dirty="0"/>
              <a:t> DJs on Demand.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1093</Words>
  <Application>Microsoft Office PowerPoint</Application>
  <PresentationFormat>On-screen Show (4:3)</PresentationFormat>
  <Paragraphs>154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Logički operatori </vt:lpstr>
      <vt:lpstr>AND Operator</vt:lpstr>
      <vt:lpstr>AND Operator</vt:lpstr>
      <vt:lpstr>OR Operator</vt:lpstr>
      <vt:lpstr>NOT Operator</vt:lpstr>
      <vt:lpstr>Prioritet izvršavanja operatora</vt:lpstr>
      <vt:lpstr>Prioritet izvršavanja operatora</vt:lpstr>
      <vt:lpstr>Prioritet izvršavanja operatora</vt:lpstr>
      <vt:lpstr>ORDER BY klauzula</vt:lpstr>
      <vt:lpstr>ORDER BY klauzula</vt:lpstr>
      <vt:lpstr>ORDER BY klauzula</vt:lpstr>
      <vt:lpstr>ORDER BY klauzula</vt:lpstr>
      <vt:lpstr>Redni upit nad jednom tabelom</vt:lpstr>
      <vt:lpstr>Domaći zadatak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Logički operatori Logical Operators</dc:title>
  <dc:creator>Vesna</dc:creator>
  <cp:lastModifiedBy>Mladen Živanović</cp:lastModifiedBy>
  <cp:revision>21</cp:revision>
  <dcterms:created xsi:type="dcterms:W3CDTF">2019-02-19T12:46:30Z</dcterms:created>
  <dcterms:modified xsi:type="dcterms:W3CDTF">2025-09-22T15:30:21Z</dcterms:modified>
</cp:coreProperties>
</file>