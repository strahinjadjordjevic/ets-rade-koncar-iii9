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912" autoAdjust="0"/>
    <p:restoredTop sz="94660"/>
  </p:normalViewPr>
  <p:slideViewPr>
    <p:cSldViewPr>
      <p:cViewPr varScale="1">
        <p:scale>
          <a:sx n="108" d="100"/>
          <a:sy n="108" d="100"/>
        </p:scale>
        <p:origin x="1302" y="10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FBC1E-E331-4B66-BAFB-1C655B9AAFEB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DD49D6-630E-4229-84F6-8FBA71E1AF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22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 </a:t>
            </a:r>
            <a:r>
              <a:rPr lang="sr-Latn-BA" dirty="0"/>
              <a:t>je jedna od najvažnijih i najčešće korišćenih naredbi u</a:t>
            </a:r>
            <a:r>
              <a:rPr lang="en-US" dirty="0"/>
              <a:t> SQL</a:t>
            </a:r>
            <a:r>
              <a:rPr lang="sr-Latn-BA" dirty="0"/>
              <a:t>-u</a:t>
            </a:r>
            <a:r>
              <a:rPr lang="en-US" dirty="0"/>
              <a:t>. </a:t>
            </a:r>
          </a:p>
          <a:p>
            <a:r>
              <a:rPr lang="sr-Latn-BA" dirty="0"/>
              <a:t>Koristimo </a:t>
            </a:r>
            <a:r>
              <a:rPr lang="en-US" dirty="0"/>
              <a:t> SELECT </a:t>
            </a:r>
            <a:r>
              <a:rPr lang="sr-Latn-BA" dirty="0"/>
              <a:t>upit da dobijemo informacije iz baze</a:t>
            </a:r>
          </a:p>
          <a:p>
            <a:r>
              <a:rPr lang="sr-Latn-BA" dirty="0"/>
              <a:t>Kod svakog upita zadajemo: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koje podatke tražimo kao rezultat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iz kojih tabela tražimo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koji uslov treba da zadovolje podaci da bi bili uključeni u rezultat</a:t>
            </a:r>
          </a:p>
          <a:p>
            <a:pPr marL="514350" indent="-514350">
              <a:buFont typeface="+mj-lt"/>
              <a:buAutoNum type="arabicPeriod"/>
            </a:pPr>
            <a:r>
              <a:rPr lang="sr-Latn-BA" dirty="0"/>
              <a:t>po kom redosledu želimo prikaz rezultata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Sintaksa </a:t>
            </a:r>
            <a:r>
              <a:rPr lang="en-US" dirty="0"/>
              <a:t>SELECT</a:t>
            </a:r>
            <a:r>
              <a:rPr lang="sr-Latn-BA" dirty="0"/>
              <a:t> naredbe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BA" dirty="0"/>
              <a:t>Najprostiji oblik </a:t>
            </a:r>
            <a:r>
              <a:rPr lang="en-US" dirty="0"/>
              <a:t>SELECT</a:t>
            </a:r>
            <a:r>
              <a:rPr lang="sr-Latn-BA" dirty="0"/>
              <a:t> naredbe mora sadržati </a:t>
            </a:r>
            <a:r>
              <a:rPr lang="en-US" dirty="0"/>
              <a:t>SELECT </a:t>
            </a:r>
            <a:r>
              <a:rPr lang="sr-Latn-BA" dirty="0"/>
              <a:t>klauzulu koja određuje koje kolone se prikazuju i </a:t>
            </a:r>
            <a:r>
              <a:rPr lang="en-US" dirty="0"/>
              <a:t>FROM</a:t>
            </a:r>
            <a:r>
              <a:rPr lang="sr-Latn-BA" dirty="0"/>
              <a:t> klauzulu koja prikazuje iz koje tabele su prikazani podaci:</a:t>
            </a:r>
            <a:endParaRPr lang="en-US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&lt;</a:t>
            </a:r>
            <a:r>
              <a:rPr lang="en-US" b="1" dirty="0" err="1"/>
              <a:t>column_name</a:t>
            </a:r>
            <a:r>
              <a:rPr lang="en-US" b="1" dirty="0"/>
              <a:t>(s)&gt;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&lt;</a:t>
            </a:r>
            <a:r>
              <a:rPr lang="en-US" b="1" dirty="0" err="1"/>
              <a:t>table_name</a:t>
            </a:r>
            <a:r>
              <a:rPr lang="en-US" b="1" dirty="0"/>
              <a:t>&gt;;</a:t>
            </a:r>
            <a:endParaRPr lang="en-US" dirty="0"/>
          </a:p>
          <a:p>
            <a:r>
              <a:rPr lang="sr-Latn-BA" dirty="0"/>
              <a:t>Primer: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</a:t>
            </a:r>
            <a:r>
              <a:rPr lang="en-US" b="1" dirty="0" err="1"/>
              <a:t>last_name</a:t>
            </a:r>
            <a:endParaRPr lang="en-US" b="1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employees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Prikaz svih kolona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r-Latn-BA" dirty="0"/>
              <a:t>Možemo prikazati sve kolone u tabeli ako umesto imena kolona stavimo simbol * u </a:t>
            </a:r>
            <a:r>
              <a:rPr lang="en-US" dirty="0"/>
              <a:t>SELECT</a:t>
            </a:r>
            <a:r>
              <a:rPr lang="sr-Latn-BA" dirty="0"/>
              <a:t> klauzuli</a:t>
            </a:r>
            <a:endParaRPr lang="en-US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* 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countries;</a:t>
            </a:r>
            <a:endParaRPr lang="sr-Latn-BA" b="1" dirty="0"/>
          </a:p>
          <a:p>
            <a:r>
              <a:rPr lang="sr-Latn-BA" dirty="0"/>
              <a:t>ili navedemo imena svih kolona u tabeli razdvojena zarezima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</a:t>
            </a:r>
            <a:r>
              <a:rPr lang="en-US" b="1" dirty="0" err="1"/>
              <a:t>country_id</a:t>
            </a:r>
            <a:r>
              <a:rPr lang="en-US" b="1" dirty="0"/>
              <a:t>, </a:t>
            </a:r>
            <a:r>
              <a:rPr lang="en-US" b="1" dirty="0" err="1"/>
              <a:t>country_name</a:t>
            </a:r>
            <a:r>
              <a:rPr lang="en-US" b="1" dirty="0"/>
              <a:t>, </a:t>
            </a:r>
            <a:r>
              <a:rPr lang="en-US" b="1" dirty="0" err="1"/>
              <a:t>region_id</a:t>
            </a:r>
            <a:endParaRPr lang="en-US" b="1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countries;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Projekcija određenih kolona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Potrebno je u SELECT klauzoli navesti nazive željenih kolona, razdvojene zarezima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</a:t>
            </a:r>
            <a:r>
              <a:rPr lang="en-US" b="1" dirty="0" err="1"/>
              <a:t>location_id</a:t>
            </a:r>
            <a:r>
              <a:rPr lang="en-US" b="1" dirty="0"/>
              <a:t>, city, </a:t>
            </a:r>
            <a:r>
              <a:rPr lang="en-US" b="1" dirty="0" err="1"/>
              <a:t>state_province</a:t>
            </a:r>
            <a:endParaRPr lang="en-US" b="1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locations;</a:t>
            </a:r>
            <a:endParaRPr lang="sr-Latn-BA" b="1" dirty="0"/>
          </a:p>
          <a:p>
            <a:endParaRPr lang="en-US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</a:t>
            </a:r>
            <a:r>
              <a:rPr lang="en-US" b="1" dirty="0" err="1"/>
              <a:t>employee_id</a:t>
            </a:r>
            <a:r>
              <a:rPr lang="en-US" b="1" dirty="0"/>
              <a:t>, </a:t>
            </a:r>
            <a:r>
              <a:rPr lang="en-US" b="1" dirty="0" err="1"/>
              <a:t>last_name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employees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Korišćenje aritmetičkih operacija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BA" dirty="0"/>
              <a:t>Prioritet izvršavanja : prvo množenje i deljenje, pa sabiranje i oduzimanje (s leva na desno). Mogu se koristiti zagrade</a:t>
            </a:r>
          </a:p>
          <a:p>
            <a:endParaRPr lang="en-US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</a:t>
            </a:r>
            <a:r>
              <a:rPr lang="en-US" b="1" dirty="0" err="1"/>
              <a:t>last_name</a:t>
            </a:r>
            <a:r>
              <a:rPr lang="en-US" b="1" dirty="0"/>
              <a:t>, salary, 12*salary +100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employees;</a:t>
            </a:r>
            <a:endParaRPr lang="sr-Latn-BA" b="1" dirty="0"/>
          </a:p>
          <a:p>
            <a:endParaRPr lang="en-US" dirty="0"/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SELECT </a:t>
            </a:r>
            <a:r>
              <a:rPr lang="en-US" b="1" dirty="0" err="1"/>
              <a:t>last_name</a:t>
            </a:r>
            <a:r>
              <a:rPr lang="en-US" b="1" dirty="0"/>
              <a:t>, salary, 12*(salary +100)</a:t>
            </a:r>
          </a:p>
          <a:p>
            <a:pPr>
              <a:buNone/>
            </a:pPr>
            <a:r>
              <a:rPr lang="sr-Latn-BA" b="1" dirty="0"/>
              <a:t>	</a:t>
            </a:r>
            <a:r>
              <a:rPr lang="en-US" b="1" dirty="0"/>
              <a:t>FROM employees;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NULL </a:t>
            </a:r>
            <a:r>
              <a:rPr lang="sr-Latn-BA" dirty="0"/>
              <a:t>vrednost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NULL </a:t>
            </a:r>
            <a:r>
              <a:rPr lang="sr-Latn-RS" dirty="0"/>
              <a:t>označava vrednost koja je nedostupna, nedodeljena, nepoznata ili neprime</a:t>
            </a:r>
            <a:r>
              <a:rPr lang="en-US" dirty="0" err="1"/>
              <a:t>nlji</a:t>
            </a:r>
            <a:r>
              <a:rPr lang="sr-Latn-RS" dirty="0"/>
              <a:t>va</a:t>
            </a:r>
            <a:r>
              <a:rPr lang="en-US" dirty="0"/>
              <a:t>;</a:t>
            </a:r>
          </a:p>
          <a:p>
            <a:r>
              <a:rPr lang="en-US" dirty="0"/>
              <a:t> NULL </a:t>
            </a:r>
            <a:r>
              <a:rPr lang="sr-Latn-RS" dirty="0"/>
              <a:t>se razlikuje od nule (zero) ili blanko (space) vrednosti</a:t>
            </a:r>
          </a:p>
          <a:p>
            <a:pPr>
              <a:buNone/>
            </a:pPr>
            <a:r>
              <a:rPr lang="en-US" dirty="0"/>
              <a:t>• </a:t>
            </a:r>
            <a:r>
              <a:rPr lang="sr-Latn-RS" dirty="0"/>
              <a:t>U</a:t>
            </a:r>
            <a:r>
              <a:rPr lang="en-US" dirty="0"/>
              <a:t> SQL</a:t>
            </a:r>
            <a:r>
              <a:rPr lang="sr-Latn-RS" dirty="0"/>
              <a:t>-u</a:t>
            </a:r>
            <a:r>
              <a:rPr lang="en-US" dirty="0"/>
              <a:t>, </a:t>
            </a:r>
            <a:r>
              <a:rPr lang="sr-Latn-RS" dirty="0"/>
              <a:t>nula je broj (number), </a:t>
            </a:r>
            <a:r>
              <a:rPr lang="en-US" dirty="0"/>
              <a:t>a </a:t>
            </a:r>
            <a:r>
              <a:rPr lang="sr-Latn-RS" dirty="0"/>
              <a:t>space je karakter</a:t>
            </a:r>
          </a:p>
          <a:p>
            <a:r>
              <a:rPr lang="en-US" dirty="0"/>
              <a:t>NULL</a:t>
            </a:r>
            <a:r>
              <a:rPr lang="sr-Latn-RS" dirty="0"/>
              <a:t> ili null u SQL-u predstavlja nepoznatu vrednost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NULL </a:t>
            </a:r>
            <a:r>
              <a:rPr lang="sr-Latn-RS" dirty="0"/>
              <a:t>vrednost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Ako je vrednost bilo koje kolone koja se koristi u aritmetičkom izrazu NULL, rezultat  izraza je NULL </a:t>
            </a:r>
          </a:p>
          <a:p>
            <a:r>
              <a:rPr lang="sr-Latn-RS" dirty="0"/>
              <a:t>Ako delimo sa NULL rezultat je NULL</a:t>
            </a:r>
          </a:p>
          <a:p>
            <a:r>
              <a:rPr lang="sr-Latn-RS" dirty="0"/>
              <a:t>Ako delimo sa nulom SQL će javiti grešku</a:t>
            </a:r>
          </a:p>
          <a:p>
            <a:r>
              <a:rPr lang="sr-Latn-RS" dirty="0"/>
              <a:t>primer</a:t>
            </a:r>
          </a:p>
          <a:p>
            <a:pPr>
              <a:buNone/>
            </a:pPr>
            <a:r>
              <a:rPr lang="sr-Latn-RS" dirty="0"/>
              <a:t>	</a:t>
            </a: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, </a:t>
            </a:r>
            <a:r>
              <a:rPr lang="en-US" dirty="0" err="1"/>
              <a:t>job_id</a:t>
            </a:r>
            <a:r>
              <a:rPr lang="en-US" dirty="0"/>
              <a:t>, salary, </a:t>
            </a:r>
            <a:r>
              <a:rPr lang="en-US" dirty="0" err="1"/>
              <a:t>commission_pct</a:t>
            </a:r>
            <a:r>
              <a:rPr lang="en-US" dirty="0"/>
              <a:t>, salary*</a:t>
            </a:r>
            <a:r>
              <a:rPr lang="en-US" dirty="0" err="1"/>
              <a:t>commission_pct</a:t>
            </a:r>
            <a:r>
              <a:rPr lang="en-US" dirty="0"/>
              <a:t> FROM employees;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NULL </a:t>
            </a:r>
            <a:r>
              <a:rPr lang="sr-Latn-RS" dirty="0"/>
              <a:t>vrednost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3400" y="1752600"/>
          <a:ext cx="82296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LAST_NAME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JOB_ID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SALARY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COMMISS_PCT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SALARY*COMMISS_</a:t>
                      </a:r>
                      <a:r>
                        <a:rPr lang="sr-Latn-RS" dirty="0"/>
                        <a:t>P</a:t>
                      </a:r>
                      <a:r>
                        <a:rPr lang="en-US" dirty="0"/>
                        <a:t>CT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AD_PRES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Kochhar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AD_VP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17000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 </a:t>
                      </a:r>
                      <a:r>
                        <a:rPr lang="en-US" dirty="0" err="1"/>
                        <a:t>Haan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AD_VP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Whalen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AD_ASST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4400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/>
                        <a:t>-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Zlotkey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SA_MAN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.2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2100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SA_REP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.3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3300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Pseudonim (</a:t>
            </a:r>
            <a:r>
              <a:rPr lang="en-US" dirty="0"/>
              <a:t>Aliases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Alias </a:t>
            </a:r>
            <a:r>
              <a:rPr lang="sr-Latn-RS" dirty="0"/>
              <a:t> je način kako da preimenujemo zaglavlje kolone na izveštaju</a:t>
            </a:r>
          </a:p>
          <a:p>
            <a:r>
              <a:rPr lang="sr-Latn-RS" dirty="0"/>
              <a:t>Bez preimenovanja imena kolona će biti ista kao u tabeli ili će prikazati operacije aritmetičkog izraza kao u predhodnom primeru</a:t>
            </a:r>
          </a:p>
          <a:p>
            <a:r>
              <a:rPr lang="sr-Latn-RS" dirty="0"/>
              <a:t>Aliases nam omogućavaju da na izveštaju imamo  naziv kolone koji je razumljiviji (</a:t>
            </a:r>
            <a:r>
              <a:rPr lang="en-US" dirty="0"/>
              <a:t>"more friendly"</a:t>
            </a:r>
            <a:r>
              <a:rPr lang="sr-Latn-RS" dirty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Pseudonim (</a:t>
            </a:r>
            <a:r>
              <a:rPr lang="en-US" dirty="0"/>
              <a:t>Aliases</a:t>
            </a:r>
            <a:r>
              <a:rPr lang="sr-Latn-RS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Aliases se navodi neposredno nakon naziva kolone</a:t>
            </a:r>
          </a:p>
          <a:p>
            <a:r>
              <a:rPr lang="sr-Latn-RS" dirty="0"/>
              <a:t>Može se opciono navesti</a:t>
            </a:r>
            <a:r>
              <a:rPr lang="en-US" dirty="0"/>
              <a:t> </a:t>
            </a:r>
            <a:r>
              <a:rPr lang="sr-Latn-RS" dirty="0"/>
              <a:t>službena reč AS između imena kolone i aliases</a:t>
            </a:r>
          </a:p>
          <a:p>
            <a:r>
              <a:rPr lang="sr-Latn-RS" dirty="0"/>
              <a:t>Ako aliases sadrži space, specijalne karaktere ili je case – sensitive navodi se između dvostrukih navodnika</a:t>
            </a:r>
          </a:p>
          <a:p>
            <a:r>
              <a:rPr lang="en-US" dirty="0"/>
              <a:t>S</a:t>
            </a:r>
            <a:r>
              <a:rPr lang="sr-Latn-RS" dirty="0"/>
              <a:t>intaksa</a:t>
            </a:r>
          </a:p>
          <a:p>
            <a:pPr>
              <a:buNone/>
            </a:pPr>
            <a:r>
              <a:rPr lang="sr-Latn-RS" dirty="0"/>
              <a:t>	</a:t>
            </a:r>
            <a:r>
              <a:rPr lang="en-US" dirty="0"/>
              <a:t>SELECT * |</a:t>
            </a:r>
            <a:r>
              <a:rPr lang="en-US" dirty="0" err="1"/>
              <a:t>column|expr</a:t>
            </a:r>
            <a:r>
              <a:rPr lang="en-US" dirty="0"/>
              <a:t> [ AS alias], ..... FROM table;</a:t>
            </a:r>
            <a:endParaRPr lang="sr-Latn-RS" dirty="0"/>
          </a:p>
          <a:p>
            <a:endParaRPr lang="sr-Latn-R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Pseudonim (</a:t>
            </a:r>
            <a:r>
              <a:rPr lang="en-US" dirty="0"/>
              <a:t>Aliases</a:t>
            </a:r>
            <a:r>
              <a:rPr lang="sr-Latn-RS" dirty="0"/>
              <a:t>)- primer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sr-Latn-RS" dirty="0"/>
              <a:t>	</a:t>
            </a: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 "Name", salary*12 "Annual Salary" FROM employees;</a:t>
            </a:r>
            <a:endParaRPr lang="sr-Latn-RS" dirty="0"/>
          </a:p>
          <a:p>
            <a:pPr>
              <a:buNone/>
            </a:pPr>
            <a:endParaRPr lang="en-U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7800" y="2971800"/>
          <a:ext cx="6096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Annual Salary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Kochhar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 </a:t>
                      </a:r>
                      <a:r>
                        <a:rPr lang="en-US" dirty="0" err="1"/>
                        <a:t>Haan</a:t>
                      </a:r>
                      <a:r>
                        <a:rPr lang="en-US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Operator </a:t>
            </a:r>
            <a:r>
              <a:rPr lang="en-US" dirty="0" err="1"/>
              <a:t>spajanja</a:t>
            </a:r>
            <a:r>
              <a:rPr lang="en-US" dirty="0"/>
              <a:t> - </a:t>
            </a:r>
            <a:r>
              <a:rPr lang="en-US" dirty="0" err="1"/>
              <a:t>konkatenacija</a:t>
            </a:r>
            <a:br>
              <a:rPr lang="en-US" dirty="0"/>
            </a:br>
            <a:r>
              <a:rPr lang="en-US" dirty="0"/>
              <a:t>The Concatenation Operator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Konkatenacija</a:t>
            </a:r>
            <a:r>
              <a:rPr lang="en-US" dirty="0"/>
              <a:t> </a:t>
            </a:r>
            <a:r>
              <a:rPr lang="en-US" dirty="0" err="1"/>
              <a:t>podrazumeva</a:t>
            </a:r>
            <a:r>
              <a:rPr lang="en-US" dirty="0"/>
              <a:t> </a:t>
            </a:r>
            <a:r>
              <a:rPr lang="en-US" dirty="0" err="1"/>
              <a:t>spajanje</a:t>
            </a:r>
            <a:r>
              <a:rPr lang="en-US" dirty="0"/>
              <a:t> </a:t>
            </a:r>
            <a:r>
              <a:rPr lang="sr-Latn-RS" dirty="0"/>
              <a:t>stringova u seriji</a:t>
            </a:r>
          </a:p>
          <a:p>
            <a:r>
              <a:rPr lang="sr-Latn-RS" dirty="0"/>
              <a:t>Simbol konkatenacije su dve vertikalne linije </a:t>
            </a:r>
            <a:r>
              <a:rPr lang="en-US" dirty="0"/>
              <a:t>||</a:t>
            </a:r>
          </a:p>
          <a:p>
            <a:r>
              <a:rPr lang="en-US" dirty="0" err="1"/>
              <a:t>Rezultat</a:t>
            </a:r>
            <a:r>
              <a:rPr lang="en-US" dirty="0"/>
              <a:t> </a:t>
            </a:r>
            <a:r>
              <a:rPr lang="en-US" dirty="0" err="1"/>
              <a:t>konkatenacije</a:t>
            </a:r>
            <a:r>
              <a:rPr lang="en-US" dirty="0"/>
              <a:t> je string</a:t>
            </a:r>
          </a:p>
          <a:p>
            <a:r>
              <a:rPr lang="en-US" dirty="0" err="1"/>
              <a:t>Sintaksa</a:t>
            </a:r>
            <a:r>
              <a:rPr lang="en-US" dirty="0"/>
              <a:t> je:</a:t>
            </a:r>
          </a:p>
          <a:p>
            <a:pPr marL="0" indent="0">
              <a:buNone/>
            </a:pPr>
            <a:r>
              <a:rPr lang="en-US" dirty="0"/>
              <a:t>	string1 || string2 || </a:t>
            </a:r>
            <a:r>
              <a:rPr lang="en-US" dirty="0" err="1"/>
              <a:t>string_n</a:t>
            </a:r>
            <a:endParaRPr lang="en-US" dirty="0"/>
          </a:p>
          <a:p>
            <a:r>
              <a:rPr lang="en-US" dirty="0"/>
              <a:t>Primer: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department_id</a:t>
            </a:r>
            <a:r>
              <a:rPr lang="en-US" dirty="0"/>
              <a:t> ||' '||</a:t>
            </a:r>
            <a:r>
              <a:rPr lang="en-US" dirty="0" err="1"/>
              <a:t>department_name</a:t>
            </a:r>
            <a:r>
              <a:rPr lang="en-US" dirty="0"/>
              <a:t> FROM departments; </a:t>
            </a:r>
          </a:p>
        </p:txBody>
      </p:sp>
    </p:spTree>
    <p:extLst>
      <p:ext uri="{BB962C8B-B14F-4D97-AF65-F5344CB8AC3E}">
        <p14:creationId xmlns:p14="http://schemas.microsoft.com/office/powerpoint/2010/main" val="306380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/>
          <a:lstStyle/>
          <a:p>
            <a:r>
              <a:rPr lang="en-US" dirty="0" err="1"/>
              <a:t>Konkatenacija</a:t>
            </a:r>
            <a:r>
              <a:rPr lang="en-US" dirty="0"/>
              <a:t> </a:t>
            </a:r>
            <a:r>
              <a:rPr lang="sr-Latn-RS" dirty="0"/>
              <a:t>i Aliases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department_id</a:t>
            </a:r>
            <a:r>
              <a:rPr lang="en-US" dirty="0"/>
              <a:t> ||' '|| </a:t>
            </a:r>
            <a:r>
              <a:rPr lang="en-US" dirty="0" err="1"/>
              <a:t>department_name</a:t>
            </a:r>
            <a:r>
              <a:rPr lang="en-US" dirty="0"/>
              <a:t> AS " Department Info " FROM departments;</a:t>
            </a:r>
            <a:endParaRPr lang="sr-Latn-R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187707"/>
              </p:ext>
            </p:extLst>
          </p:nvPr>
        </p:nvGraphicFramePr>
        <p:xfrm>
          <a:off x="457200" y="3657600"/>
          <a:ext cx="5181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DEPARTMENT_ID||' '||DEPARTMENT_NAME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 </a:t>
                      </a:r>
                      <a:r>
                        <a:rPr lang="sr-Latn-RS" dirty="0"/>
                        <a:t> </a:t>
                      </a:r>
                      <a:r>
                        <a:rPr lang="en-US" dirty="0"/>
                        <a:t>Administration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20 Marketing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 Shipping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60 IT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209204"/>
              </p:ext>
            </p:extLst>
          </p:nvPr>
        </p:nvGraphicFramePr>
        <p:xfrm>
          <a:off x="6324600" y="3505200"/>
          <a:ext cx="2514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1304">
                <a:tc>
                  <a:txBody>
                    <a:bodyPr/>
                    <a:lstStyle/>
                    <a:p>
                      <a:r>
                        <a:rPr lang="en-US" dirty="0"/>
                        <a:t>Department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04">
                <a:tc>
                  <a:txBody>
                    <a:bodyPr/>
                    <a:lstStyle/>
                    <a:p>
                      <a:r>
                        <a:rPr lang="en-US" dirty="0"/>
                        <a:t>10 </a:t>
                      </a:r>
                      <a:r>
                        <a:rPr lang="sr-Latn-RS" dirty="0"/>
                        <a:t> Administration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04">
                <a:tc>
                  <a:txBody>
                    <a:bodyPr/>
                    <a:lstStyle/>
                    <a:p>
                      <a:r>
                        <a:rPr lang="en-US" dirty="0"/>
                        <a:t>20 </a:t>
                      </a:r>
                      <a:r>
                        <a:rPr lang="sr-Latn-RS" dirty="0"/>
                        <a:t> Marketing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04">
                <a:tc>
                  <a:txBody>
                    <a:bodyPr/>
                    <a:lstStyle/>
                    <a:p>
                      <a:r>
                        <a:rPr lang="en-US" dirty="0"/>
                        <a:t>50 </a:t>
                      </a:r>
                      <a:r>
                        <a:rPr lang="sr-Latn-RS" dirty="0"/>
                        <a:t> Shipping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783">
                <a:tc>
                  <a:txBody>
                    <a:bodyPr/>
                    <a:lstStyle/>
                    <a:p>
                      <a:r>
                        <a:rPr lang="en-US" dirty="0"/>
                        <a:t>60 IT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578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Konkatenacija i literarne vrednosti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Korišćenjem kombinacije konkatenacije i literarnih vrednosti možemo dobiti izlaznu tabelu koja izgleda kao rečenice</a:t>
            </a:r>
          </a:p>
          <a:p>
            <a:r>
              <a:rPr lang="sr-Latn-RS" dirty="0"/>
              <a:t>Karakteri i datumi koji se ubacuju moraju biti između apostrofa</a:t>
            </a: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last_name</a:t>
            </a:r>
            <a:r>
              <a:rPr lang="en-US" dirty="0"/>
              <a:t> || ' has a monthly salary of ' || salary || ' dollars.' AS Pay FROM employees;</a:t>
            </a:r>
          </a:p>
        </p:txBody>
      </p:sp>
    </p:spTree>
    <p:extLst>
      <p:ext uri="{BB962C8B-B14F-4D97-AF65-F5344CB8AC3E}">
        <p14:creationId xmlns:p14="http://schemas.microsoft.com/office/powerpoint/2010/main" val="2260748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Konkatenacija i literarne vrednosti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163445"/>
              </p:ext>
            </p:extLst>
          </p:nvPr>
        </p:nvGraphicFramePr>
        <p:xfrm>
          <a:off x="457200" y="1524000"/>
          <a:ext cx="5334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King has a monthly salary of 24000 dollars.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Kochhar</a:t>
                      </a:r>
                      <a:r>
                        <a:rPr lang="en-US" dirty="0"/>
                        <a:t> has a monthly salary of 17000 dollars</a:t>
                      </a:r>
                      <a:r>
                        <a:rPr lang="sr-Latn-RS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 </a:t>
                      </a:r>
                      <a:r>
                        <a:rPr lang="en-US" dirty="0" err="1"/>
                        <a:t>Haan</a:t>
                      </a:r>
                      <a:r>
                        <a:rPr lang="en-US" dirty="0"/>
                        <a:t> has a monthly salary of 17000 </a:t>
                      </a:r>
                      <a:r>
                        <a:rPr lang="en-US" dirty="0" err="1"/>
                        <a:t>dolla</a:t>
                      </a:r>
                      <a:r>
                        <a:rPr lang="sr-Latn-RS" dirty="0"/>
                        <a:t>rs.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Gietz</a:t>
                      </a:r>
                      <a:r>
                        <a:rPr lang="en-US" dirty="0"/>
                        <a:t> has a monthly salary of 8300 dollars.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20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Domaći zadatak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 </a:t>
            </a:r>
            <a:r>
              <a:rPr lang="en-US" dirty="0" err="1"/>
              <a:t>prizvoljnu</a:t>
            </a:r>
            <a:r>
              <a:rPr lang="en-US" dirty="0"/>
              <a:t> SQL </a:t>
            </a:r>
            <a:r>
              <a:rPr lang="en-US" dirty="0" err="1"/>
              <a:t>naredbu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operaciju</a:t>
            </a:r>
            <a:r>
              <a:rPr lang="en-US" dirty="0"/>
              <a:t> </a:t>
            </a:r>
            <a:r>
              <a:rPr lang="en-US" dirty="0" err="1"/>
              <a:t>relacione</a:t>
            </a:r>
            <a:r>
              <a:rPr lang="en-US" dirty="0"/>
              <a:t> </a:t>
            </a:r>
            <a:r>
              <a:rPr lang="en-US" dirty="0" err="1"/>
              <a:t>algebre</a:t>
            </a:r>
            <a:r>
              <a:rPr lang="en-US" dirty="0"/>
              <a:t> </a:t>
            </a:r>
            <a:r>
              <a:rPr lang="en-US" dirty="0" err="1"/>
              <a:t>projekcija</a:t>
            </a:r>
            <a:r>
              <a:rPr lang="en-US" dirty="0"/>
              <a:t>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prezime</a:t>
            </a:r>
            <a:r>
              <a:rPr lang="en-US" dirty="0"/>
              <a:t> (</a:t>
            </a:r>
            <a:r>
              <a:rPr lang="en-US" i="1" dirty="0" err="1"/>
              <a:t>last_name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email </a:t>
            </a:r>
            <a:r>
              <a:rPr lang="en-US" dirty="0" err="1"/>
              <a:t>adresu</a:t>
            </a:r>
            <a:r>
              <a:rPr lang="en-US" dirty="0"/>
              <a:t> (</a:t>
            </a:r>
            <a:r>
              <a:rPr lang="en-US" i="1" dirty="0"/>
              <a:t>email addresses</a:t>
            </a:r>
            <a:r>
              <a:rPr lang="en-US" dirty="0"/>
              <a:t>)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kliente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i="1" dirty="0" err="1"/>
              <a:t>d_clients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i="1" dirty="0"/>
              <a:t>DJs on Demand</a:t>
            </a:r>
            <a:r>
              <a:rPr lang="en-US" dirty="0"/>
              <a:t>. U </a:t>
            </a:r>
            <a:r>
              <a:rPr lang="en-US" dirty="0" err="1"/>
              <a:t>zaglavljima</a:t>
            </a:r>
            <a:r>
              <a:rPr lang="en-US" dirty="0"/>
              <a:t> </a:t>
            </a:r>
            <a:r>
              <a:rPr lang="en-US" dirty="0" err="1"/>
              <a:t>kolona</a:t>
            </a:r>
            <a:r>
              <a:rPr lang="en-US" dirty="0"/>
              <a:t> </a:t>
            </a:r>
            <a:r>
              <a:rPr lang="en-US" dirty="0" err="1"/>
              <a:t>napisati</a:t>
            </a:r>
            <a:r>
              <a:rPr lang="en-US" dirty="0"/>
              <a:t> Client </a:t>
            </a:r>
            <a:r>
              <a:rPr lang="en-US" dirty="0" err="1"/>
              <a:t>i</a:t>
            </a:r>
            <a:r>
              <a:rPr lang="en-US" dirty="0"/>
              <a:t> Email Address,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ime</a:t>
            </a:r>
            <a:r>
              <a:rPr lang="en-US" dirty="0"/>
              <a:t> (</a:t>
            </a:r>
            <a:r>
              <a:rPr lang="en-US" i="1" dirty="0" err="1"/>
              <a:t>first_name</a:t>
            </a:r>
            <a:r>
              <a:rPr lang="en-US" dirty="0"/>
              <a:t>), </a:t>
            </a:r>
            <a:r>
              <a:rPr lang="en-US" dirty="0" err="1"/>
              <a:t>prezime</a:t>
            </a:r>
            <a:r>
              <a:rPr lang="en-US" dirty="0"/>
              <a:t> (</a:t>
            </a:r>
            <a:r>
              <a:rPr lang="en-US" i="1" dirty="0" err="1"/>
              <a:t>last_name</a:t>
            </a:r>
            <a:r>
              <a:rPr lang="en-US" dirty="0"/>
              <a:t>), </a:t>
            </a:r>
            <a:r>
              <a:rPr lang="en-US" dirty="0" err="1"/>
              <a:t>redovnu</a:t>
            </a:r>
            <a:r>
              <a:rPr lang="en-US" dirty="0"/>
              <a:t> </a:t>
            </a:r>
            <a:r>
              <a:rPr lang="en-US" dirty="0" err="1"/>
              <a:t>platu</a:t>
            </a:r>
            <a:r>
              <a:rPr lang="en-US" dirty="0"/>
              <a:t> (</a:t>
            </a:r>
            <a:r>
              <a:rPr lang="en-US" i="1" dirty="0"/>
              <a:t>salary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platu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povišicom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5%.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ime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prezime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 u </a:t>
            </a:r>
            <a:r>
              <a:rPr lang="en-US" dirty="0" err="1"/>
              <a:t>jednoj</a:t>
            </a:r>
            <a:r>
              <a:rPr lang="en-US" dirty="0"/>
              <a:t> </a:t>
            </a:r>
            <a:r>
              <a:rPr lang="en-US" dirty="0" err="1"/>
              <a:t>koloni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zaglavljem</a:t>
            </a:r>
            <a:r>
              <a:rPr lang="en-US" dirty="0"/>
              <a:t> Name. U </a:t>
            </a:r>
            <a:r>
              <a:rPr lang="en-US" dirty="0" err="1"/>
              <a:t>zaglavlju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povišicom</a:t>
            </a:r>
            <a:r>
              <a:rPr lang="en-US" dirty="0"/>
              <a:t> </a:t>
            </a:r>
            <a:r>
              <a:rPr lang="en-US" dirty="0" err="1"/>
              <a:t>napisati</a:t>
            </a:r>
            <a:r>
              <a:rPr lang="en-US" dirty="0"/>
              <a:t> New salary. </a:t>
            </a:r>
            <a:r>
              <a:rPr lang="en-US" dirty="0" err="1"/>
              <a:t>Podaci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 u </a:t>
            </a:r>
            <a:r>
              <a:rPr lang="en-US" dirty="0" err="1"/>
              <a:t>tabeli</a:t>
            </a:r>
            <a:r>
              <a:rPr lang="en-US" dirty="0"/>
              <a:t> </a:t>
            </a:r>
            <a:r>
              <a:rPr lang="en-US" i="1" dirty="0" err="1"/>
              <a:t>f_staffs</a:t>
            </a:r>
            <a:r>
              <a:rPr lang="en-US" dirty="0"/>
              <a:t> 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i="1" dirty="0"/>
              <a:t>Global Fast Foods.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 err="1"/>
              <a:t>Napisati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načina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prikazuje</a:t>
            </a:r>
            <a:r>
              <a:rPr lang="en-US" dirty="0"/>
              <a:t> </a:t>
            </a:r>
            <a:r>
              <a:rPr lang="en-US" dirty="0" err="1"/>
              <a:t>podatke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kolone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tabele</a:t>
            </a:r>
            <a:r>
              <a:rPr lang="en-US" dirty="0"/>
              <a:t> </a:t>
            </a:r>
            <a:r>
              <a:rPr lang="en-US" i="1" dirty="0" err="1"/>
              <a:t>d_songs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i="1" dirty="0"/>
              <a:t>DJs on Demand</a:t>
            </a:r>
            <a:r>
              <a:rPr lang="en-US" dirty="0"/>
              <a:t>.</a:t>
            </a:r>
            <a:endParaRPr lang="sr-Latn-BA" dirty="0"/>
          </a:p>
          <a:p>
            <a:pPr lvl="0">
              <a:buNone/>
            </a:pPr>
            <a:r>
              <a:rPr lang="sr-Latn-BA" dirty="0"/>
              <a:t>5.	</a:t>
            </a:r>
            <a:r>
              <a:rPr lang="en-US" dirty="0" err="1"/>
              <a:t>Koja</a:t>
            </a:r>
            <a:r>
              <a:rPr lang="en-US" dirty="0"/>
              <a:t> </a:t>
            </a:r>
            <a:r>
              <a:rPr lang="en-US" dirty="0" err="1"/>
              <a:t>od</a:t>
            </a:r>
            <a:r>
              <a:rPr lang="en-US" dirty="0"/>
              <a:t> </a:t>
            </a:r>
            <a:r>
              <a:rPr lang="en-US" dirty="0" err="1"/>
              <a:t>sledećih</a:t>
            </a:r>
            <a:r>
              <a:rPr lang="en-US" dirty="0"/>
              <a:t> </a:t>
            </a:r>
            <a:r>
              <a:rPr lang="en-US" dirty="0" err="1"/>
              <a:t>tvrđenja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istinita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a) null * 25 = 0; </a:t>
            </a:r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b) null * 6.00 = 6.00 </a:t>
            </a:r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c) null * .05 = null </a:t>
            </a:r>
          </a:p>
          <a:p>
            <a:pPr>
              <a:buNone/>
            </a:pPr>
            <a:r>
              <a:rPr lang="sr-Latn-BA" dirty="0"/>
              <a:t>	</a:t>
            </a:r>
            <a:r>
              <a:rPr lang="en-US" dirty="0"/>
              <a:t>d) (null + 1.00) + 5.00 = 5.00</a:t>
            </a:r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967</Words>
  <Application>Microsoft Office PowerPoint</Application>
  <PresentationFormat>On-screen Show (4:3)</PresentationFormat>
  <Paragraphs>148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SELECT </vt:lpstr>
      <vt:lpstr>Sintaksa SELECT naredbe</vt:lpstr>
      <vt:lpstr>Prikaz svih kolona</vt:lpstr>
      <vt:lpstr>Projekcija određenih kolona</vt:lpstr>
      <vt:lpstr>Korišćenje aritmetičkih operacija</vt:lpstr>
      <vt:lpstr>NULL vrednost</vt:lpstr>
      <vt:lpstr>NULL vrednost </vt:lpstr>
      <vt:lpstr>NULL vrednost</vt:lpstr>
      <vt:lpstr>Pseudonim (Aliases)</vt:lpstr>
      <vt:lpstr>Pseudonim (Aliases)</vt:lpstr>
      <vt:lpstr>Pseudonim (Aliases)- primer</vt:lpstr>
      <vt:lpstr>Operator spajanja - konkatenacija The Concatenation Operator</vt:lpstr>
      <vt:lpstr>Konkatenacija i Aliases </vt:lpstr>
      <vt:lpstr>Konkatenacija i literarne vrednosti</vt:lpstr>
      <vt:lpstr>Konkatenacija i literarne vrednosti</vt:lpstr>
      <vt:lpstr>Domaći zadatak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 naredba</dc:title>
  <dc:creator>Vesna</dc:creator>
  <cp:lastModifiedBy>Mladen Živanović</cp:lastModifiedBy>
  <cp:revision>26</cp:revision>
  <cp:lastPrinted>2019-01-29T14:42:36Z</cp:lastPrinted>
  <dcterms:created xsi:type="dcterms:W3CDTF">2006-08-16T00:00:00Z</dcterms:created>
  <dcterms:modified xsi:type="dcterms:W3CDTF">2025-09-09T14:10:49Z</dcterms:modified>
</cp:coreProperties>
</file>