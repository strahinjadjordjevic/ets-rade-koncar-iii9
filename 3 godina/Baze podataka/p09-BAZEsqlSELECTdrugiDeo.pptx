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E266E-76D6-40AF-B215-81449DD5F13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2E9D-C4D0-4BB1-A7F8-01A4E1C074C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DISTINCT</a:t>
            </a:r>
            <a:r>
              <a:rPr lang="en-US" dirty="0"/>
              <a:t> u SELECT </a:t>
            </a:r>
            <a:r>
              <a:rPr lang="en-US" dirty="0" err="1"/>
              <a:t>naredbi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DISTINCT </a:t>
            </a:r>
            <a:r>
              <a:rPr lang="sr-Latn-BA" sz="2800" dirty="0"/>
              <a:t>je </a:t>
            </a:r>
            <a:r>
              <a:rPr lang="en-US" sz="2800" dirty="0" err="1"/>
              <a:t>klju</a:t>
            </a:r>
            <a:r>
              <a:rPr lang="sr-Latn-BA" sz="2800" dirty="0"/>
              <a:t>čna reč koja se koristi za eliminaciju duplikata u SELECT naredbi</a:t>
            </a:r>
          </a:p>
          <a:p>
            <a:r>
              <a:rPr lang="sr-Latn-BA" sz="2800" dirty="0"/>
              <a:t>Navodi se odmah iza SELECT</a:t>
            </a:r>
          </a:p>
          <a:p>
            <a:r>
              <a:rPr lang="sr-Latn-BA" sz="2800" dirty="0"/>
              <a:t>DISTINCT se odnosi na sve navedene kolone i vraća </a:t>
            </a:r>
            <a:r>
              <a:rPr lang="sr-Latn-BA" sz="2800" b="1" dirty="0"/>
              <a:t>sve različite kombinacije </a:t>
            </a:r>
            <a:r>
              <a:rPr lang="sr-Latn-BA" sz="2800" dirty="0"/>
              <a:t>kolona koje su navedene u SELECT naredbi</a:t>
            </a:r>
          </a:p>
          <a:p>
            <a:pPr>
              <a:buNone/>
            </a:pPr>
            <a:r>
              <a:rPr lang="en-US" sz="2800" b="1" dirty="0"/>
              <a:t>SELECT*|{[DISTINCT] column | expression alias]..}</a:t>
            </a:r>
          </a:p>
          <a:p>
            <a:pPr>
              <a:buNone/>
            </a:pPr>
            <a:r>
              <a:rPr lang="en-US" sz="2800" b="1" dirty="0"/>
              <a:t>FROM table</a:t>
            </a:r>
            <a:endParaRPr lang="sr-Latn-BA" sz="2800" b="1" dirty="0"/>
          </a:p>
          <a:p>
            <a:r>
              <a:rPr lang="sr-Latn-BA" sz="2800" dirty="0"/>
              <a:t>primer</a:t>
            </a:r>
          </a:p>
          <a:p>
            <a:pPr>
              <a:buNone/>
            </a:pPr>
            <a:r>
              <a:rPr lang="en-US" sz="2800" b="1" dirty="0"/>
              <a:t>SELECT DISTINCT </a:t>
            </a:r>
            <a:r>
              <a:rPr lang="en-US" sz="2800" b="1" dirty="0" err="1"/>
              <a:t>department_id</a:t>
            </a:r>
            <a:endParaRPr lang="en-US" sz="2800" b="1" dirty="0"/>
          </a:p>
          <a:p>
            <a:pPr>
              <a:buNone/>
            </a:pPr>
            <a:r>
              <a:rPr lang="en-US" sz="2800" b="1" dirty="0"/>
              <a:t>FROM employees;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WHERE </a:t>
            </a:r>
            <a:r>
              <a:rPr lang="sr-Latn-BA" dirty="0"/>
              <a:t>u SELECT naredbi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r-Latn-BA" dirty="0"/>
              <a:t>WHERE klauz</a:t>
            </a:r>
            <a:r>
              <a:rPr lang="en-US" dirty="0"/>
              <a:t>u</a:t>
            </a:r>
            <a:r>
              <a:rPr lang="sr-Latn-BA" dirty="0"/>
              <a:t>la se koristi da odaberemo vrste koje se prikazuju (restrikcija)</a:t>
            </a:r>
          </a:p>
          <a:p>
            <a:r>
              <a:rPr lang="sr-Latn-BA" dirty="0"/>
              <a:t>Nije obavezna , navodi se odmah nakon FROM klauz</a:t>
            </a:r>
            <a:r>
              <a:rPr lang="en-US" dirty="0"/>
              <a:t>u</a:t>
            </a:r>
            <a:r>
              <a:rPr lang="sr-Latn-BA" dirty="0"/>
              <a:t>le</a:t>
            </a:r>
          </a:p>
          <a:p>
            <a:r>
              <a:rPr lang="sr-Latn-BA" dirty="0"/>
              <a:t>Uslov koji navedemo se ispituje nad svakom vrstom tabele</a:t>
            </a:r>
          </a:p>
          <a:p>
            <a:r>
              <a:rPr lang="sr-Latn-BA" dirty="0"/>
              <a:t>U uslovu se </a:t>
            </a:r>
            <a:r>
              <a:rPr lang="sr-Latn-BA" b="1" dirty="0"/>
              <a:t>ne može </a:t>
            </a:r>
            <a:r>
              <a:rPr lang="sr-Latn-BA" dirty="0"/>
              <a:t>koristiti alias</a:t>
            </a:r>
          </a:p>
          <a:p>
            <a:endParaRPr lang="sr-Latn-BA" dirty="0"/>
          </a:p>
          <a:p>
            <a:pPr>
              <a:buNone/>
            </a:pPr>
            <a:r>
              <a:rPr lang="en-US" b="1" dirty="0"/>
              <a:t>SELECT*|{[DISTINCT] column | expression alias]..}</a:t>
            </a:r>
          </a:p>
          <a:p>
            <a:pPr>
              <a:buNone/>
            </a:pPr>
            <a:r>
              <a:rPr lang="en-US" b="1" dirty="0"/>
              <a:t>FROM table</a:t>
            </a:r>
          </a:p>
          <a:p>
            <a:pPr>
              <a:buNone/>
            </a:pPr>
            <a:r>
              <a:rPr lang="en-US" b="1" dirty="0"/>
              <a:t>[WHERE condition(s)];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sr-Latn-BA" dirty="0"/>
              <a:t>u SELECT naredbi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Sintaksa WHERE </a:t>
            </a:r>
            <a:endParaRPr lang="en-US" dirty="0"/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column_name</a:t>
            </a:r>
            <a:r>
              <a:rPr lang="sr-Latn-BA" b="1" dirty="0"/>
              <a:t> </a:t>
            </a:r>
            <a:r>
              <a:rPr lang="en-US" b="1" dirty="0" err="1"/>
              <a:t>comparison_condition</a:t>
            </a:r>
            <a:r>
              <a:rPr lang="sr-Latn-BA" b="1" dirty="0"/>
              <a:t> </a:t>
            </a:r>
            <a:r>
              <a:rPr lang="en-US" b="1" dirty="0" err="1"/>
              <a:t>comparison_value</a:t>
            </a:r>
            <a:endParaRPr lang="sr-Latn-BA" b="1" dirty="0"/>
          </a:p>
          <a:p>
            <a:r>
              <a:rPr lang="sr-Latn-BA" dirty="0"/>
              <a:t>Primer</a:t>
            </a:r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employee_id</a:t>
            </a:r>
            <a:r>
              <a:rPr lang="en-US" b="1" dirty="0"/>
              <a:t>, </a:t>
            </a:r>
            <a:r>
              <a:rPr lang="en-US" b="1" dirty="0" err="1"/>
              <a:t>first_name</a:t>
            </a:r>
            <a:r>
              <a:rPr lang="en-US" b="1" dirty="0"/>
              <a:t>, </a:t>
            </a:r>
            <a:r>
              <a:rPr lang="en-US" b="1" dirty="0" err="1"/>
              <a:t>last_name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employee_id</a:t>
            </a:r>
            <a:r>
              <a:rPr lang="en-US" b="1" dirty="0"/>
              <a:t>= 101;</a:t>
            </a:r>
            <a:endParaRPr lang="sr-Latn-BA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sr-Latn-BA" dirty="0"/>
              <a:t>u SELECT naredbi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BA" dirty="0"/>
              <a:t>Operatori koje možemo koristiti u uslovu:</a:t>
            </a:r>
            <a:endParaRPr lang="en-US" dirty="0"/>
          </a:p>
          <a:p>
            <a:pPr>
              <a:buNone/>
            </a:pPr>
            <a:r>
              <a:rPr lang="sr-Latn-BA" dirty="0"/>
              <a:t>	= jednako</a:t>
            </a:r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&gt; </a:t>
            </a:r>
            <a:r>
              <a:rPr lang="en-US" dirty="0" err="1"/>
              <a:t>ve</a:t>
            </a:r>
            <a:r>
              <a:rPr lang="sr-Latn-BA" dirty="0"/>
              <a:t>će</a:t>
            </a:r>
            <a:endParaRPr lang="en-US" dirty="0"/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&gt;= </a:t>
            </a:r>
            <a:r>
              <a:rPr lang="sr-Latn-BA" dirty="0"/>
              <a:t>veće ili jednako</a:t>
            </a:r>
            <a:endParaRPr lang="en-US" dirty="0"/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&lt; </a:t>
            </a:r>
            <a:r>
              <a:rPr lang="sr-Latn-BA" dirty="0"/>
              <a:t>manje</a:t>
            </a:r>
            <a:endParaRPr lang="en-US" dirty="0"/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&lt;= </a:t>
            </a:r>
            <a:r>
              <a:rPr lang="sr-Latn-BA" dirty="0"/>
              <a:t>manje ili jednako</a:t>
            </a:r>
            <a:endParaRPr lang="en-US" dirty="0"/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&lt;&gt; </a:t>
            </a:r>
            <a:r>
              <a:rPr lang="sr-Latn-BA" dirty="0"/>
              <a:t>različito</a:t>
            </a:r>
            <a:r>
              <a:rPr lang="en-US" dirty="0"/>
              <a:t> (</a:t>
            </a:r>
            <a:r>
              <a:rPr lang="sr-Latn-BA" dirty="0"/>
              <a:t>ili</a:t>
            </a:r>
            <a:r>
              <a:rPr lang="en-US" dirty="0"/>
              <a:t> != </a:t>
            </a:r>
            <a:r>
              <a:rPr lang="sr-Latn-BA" dirty="0"/>
              <a:t>ili</a:t>
            </a:r>
            <a:r>
              <a:rPr lang="en-US" dirty="0"/>
              <a:t> ^=) </a:t>
            </a:r>
          </a:p>
          <a:p>
            <a:r>
              <a:rPr lang="sr-Latn-BA" dirty="0"/>
              <a:t>Karakteri, stringovi i datumi u uslovu se navode između apostrofa, a numerički podaci bez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sr-Latn-BA" dirty="0"/>
              <a:t>u SELECT naredbi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r-Latn-BA" dirty="0"/>
              <a:t>Primeri :</a:t>
            </a:r>
          </a:p>
          <a:p>
            <a:endParaRPr lang="sr-Latn-BA" dirty="0"/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first_name</a:t>
            </a:r>
            <a:r>
              <a:rPr lang="en-US" b="1" dirty="0"/>
              <a:t>, </a:t>
            </a:r>
            <a:r>
              <a:rPr lang="en-US" b="1" dirty="0" err="1"/>
              <a:t>last_name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last_name</a:t>
            </a:r>
            <a:r>
              <a:rPr lang="en-US" b="1" dirty="0"/>
              <a:t>= 'Taylor';</a:t>
            </a:r>
            <a:r>
              <a:rPr lang="sr-Latn-BA" b="1" dirty="0"/>
              <a:t>  </a:t>
            </a:r>
            <a:r>
              <a:rPr lang="sr-Latn-BA" dirty="0"/>
              <a:t>(</a:t>
            </a:r>
            <a:r>
              <a:rPr lang="en-US" dirty="0"/>
              <a:t>case-sensitive</a:t>
            </a:r>
            <a:r>
              <a:rPr lang="sr-Latn-BA" dirty="0"/>
              <a:t>)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first_name</a:t>
            </a:r>
            <a:r>
              <a:rPr lang="en-US" b="1" dirty="0"/>
              <a:t>, </a:t>
            </a:r>
            <a:r>
              <a:rPr lang="en-US" b="1" dirty="0" err="1"/>
              <a:t>last_name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salary &gt;= 6000</a:t>
            </a:r>
            <a:endParaRPr lang="sr-Latn-BA" b="1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first_name</a:t>
            </a:r>
            <a:r>
              <a:rPr lang="en-US" b="1" dirty="0"/>
              <a:t>, </a:t>
            </a:r>
            <a:r>
              <a:rPr lang="en-US" b="1" dirty="0" err="1"/>
              <a:t>last_name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hire_date</a:t>
            </a:r>
            <a:r>
              <a:rPr lang="en-US" b="1" dirty="0"/>
              <a:t>&lt; ‘01-01-2000’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sr-Latn-BA" dirty="0"/>
              <a:t>u SELECT naredbi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BA" dirty="0"/>
              <a:t>Pored klasičnih operatora poređenja u SQL-u postoje operatori koji proširuju funkcionalnost</a:t>
            </a:r>
            <a:endParaRPr lang="en-US" dirty="0"/>
          </a:p>
          <a:p>
            <a:r>
              <a:rPr lang="en-US" dirty="0"/>
              <a:t>BETWEEN…AND</a:t>
            </a:r>
            <a:r>
              <a:rPr lang="sr-Latn-BA" dirty="0"/>
              <a:t>  operator se koristi da selektuje vrste čije se vrednosti  nalaze između zadatih vrednosti, uključujući i njih</a:t>
            </a:r>
          </a:p>
          <a:p>
            <a:r>
              <a:rPr lang="en-US" dirty="0"/>
              <a:t>IN</a:t>
            </a:r>
            <a:r>
              <a:rPr lang="sr-Latn-BA" dirty="0"/>
              <a:t>  operator se koristi kada želimo da proverimo da li se vrednost iz tabele nalazi u zadatom setu vrednosti</a:t>
            </a:r>
          </a:p>
          <a:p>
            <a:r>
              <a:rPr lang="en-US" dirty="0"/>
              <a:t>LIKE </a:t>
            </a:r>
            <a:r>
              <a:rPr lang="sr-Latn-BA" dirty="0"/>
              <a:t> operator nam dozvoljava da selektujemo vrste koje zadovoljavaju neki šablon (uzorak)</a:t>
            </a:r>
          </a:p>
          <a:p>
            <a:endParaRPr lang="en-US" dirty="0"/>
          </a:p>
          <a:p>
            <a:endParaRPr lang="en-US" dirty="0"/>
          </a:p>
          <a:p>
            <a:endParaRPr lang="sr-Latn-BA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BETWEEN...AND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BA" dirty="0"/>
              <a:t>Koristi se da prikažemo vrednosti u zadatom opsegu, uključujući i granice</a:t>
            </a:r>
          </a:p>
          <a:p>
            <a:r>
              <a:rPr lang="sr-Latn-BA" dirty="0"/>
              <a:t>Donja granica se mora navesti prva</a:t>
            </a:r>
          </a:p>
          <a:p>
            <a:endParaRPr lang="sr-Latn-BA" dirty="0"/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last_name</a:t>
            </a:r>
            <a:r>
              <a:rPr lang="en-US" b="1" dirty="0"/>
              <a:t>, salary</a:t>
            </a:r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salary BETWEEN 9000 AND 11000;</a:t>
            </a:r>
            <a:endParaRPr lang="sr-Latn-BA" b="1" dirty="0"/>
          </a:p>
          <a:p>
            <a:pPr>
              <a:buNone/>
            </a:pPr>
            <a:endParaRPr lang="sr-Latn-BA" b="1" dirty="0"/>
          </a:p>
          <a:p>
            <a:pPr>
              <a:buNone/>
            </a:pPr>
            <a:r>
              <a:rPr lang="sr-Latn-BA" dirty="0"/>
              <a:t>Ovaj uslov je ekvivalentan sa uslovom</a:t>
            </a:r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last_name</a:t>
            </a:r>
            <a:r>
              <a:rPr lang="en-US" b="1" dirty="0"/>
              <a:t>, salary</a:t>
            </a:r>
          </a:p>
          <a:p>
            <a:pPr>
              <a:buNone/>
            </a:pPr>
            <a:r>
              <a:rPr lang="en-US" b="1" dirty="0"/>
              <a:t>FROM employees</a:t>
            </a:r>
            <a:endParaRPr lang="en-US" dirty="0"/>
          </a:p>
          <a:p>
            <a:pPr>
              <a:buNone/>
            </a:pPr>
            <a:r>
              <a:rPr lang="en-US" b="1" dirty="0"/>
              <a:t>WHERE salary &gt;= 9000 AND salary &lt;=11000; </a:t>
            </a:r>
            <a:endParaRPr lang="sr-Latn-BA" dirty="0"/>
          </a:p>
          <a:p>
            <a:endParaRPr lang="sr-Latn-BA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sr-Latn-BA" dirty="0"/>
            </a:br>
            <a:r>
              <a:rPr lang="en-US" dirty="0"/>
              <a:t>IN</a:t>
            </a:r>
            <a:r>
              <a:rPr lang="sr-Latn-BA" dirty="0"/>
              <a:t> </a:t>
            </a:r>
            <a:r>
              <a:rPr lang="en-US" dirty="0"/>
              <a:t>"membership condition"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BA" dirty="0"/>
              <a:t>Ovaj uslov se koristi da ispita da li se vrednost u vrsti nalazi u zadatom setu vrednosti</a:t>
            </a:r>
          </a:p>
          <a:p>
            <a:pPr>
              <a:buNone/>
            </a:pPr>
            <a:r>
              <a:rPr lang="en-US" b="1" dirty="0"/>
              <a:t>SELECT city, </a:t>
            </a:r>
            <a:r>
              <a:rPr lang="en-US" b="1" dirty="0" err="1"/>
              <a:t>state_province</a:t>
            </a:r>
            <a:r>
              <a:rPr lang="en-US" b="1" dirty="0"/>
              <a:t>, </a:t>
            </a:r>
            <a:r>
              <a:rPr lang="en-US" b="1" dirty="0" err="1"/>
              <a:t>country_id</a:t>
            </a:r>
            <a:endParaRPr lang="en-US" b="1" dirty="0"/>
          </a:p>
          <a:p>
            <a:pPr>
              <a:buNone/>
            </a:pPr>
            <a:r>
              <a:rPr lang="en-US" b="1" dirty="0"/>
              <a:t>FROM locations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country_id</a:t>
            </a:r>
            <a:r>
              <a:rPr lang="sr-Latn-BA" b="1" dirty="0"/>
              <a:t> </a:t>
            </a:r>
            <a:r>
              <a:rPr lang="en-US" b="1" dirty="0"/>
              <a:t>IN('UK', 'CA');</a:t>
            </a:r>
            <a:endParaRPr lang="sr-Latn-BA" b="1" dirty="0"/>
          </a:p>
          <a:p>
            <a:pPr>
              <a:buNone/>
            </a:pPr>
            <a:r>
              <a:rPr lang="sr-Latn-BA" dirty="0"/>
              <a:t>Ovo je ekvivalentno sa</a:t>
            </a:r>
          </a:p>
          <a:p>
            <a:pPr>
              <a:buNone/>
            </a:pPr>
            <a:r>
              <a:rPr lang="en-US" b="1" dirty="0"/>
              <a:t>SELECT city, </a:t>
            </a:r>
            <a:r>
              <a:rPr lang="en-US" b="1" dirty="0" err="1"/>
              <a:t>state_province</a:t>
            </a:r>
            <a:r>
              <a:rPr lang="en-US" b="1" dirty="0"/>
              <a:t>, </a:t>
            </a:r>
            <a:r>
              <a:rPr lang="en-US" b="1" dirty="0" err="1"/>
              <a:t>country_id</a:t>
            </a:r>
            <a:endParaRPr lang="en-US" b="1" dirty="0"/>
          </a:p>
          <a:p>
            <a:pPr>
              <a:buNone/>
            </a:pPr>
            <a:r>
              <a:rPr lang="en-US" b="1" dirty="0"/>
              <a:t>FROM locations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country_id</a:t>
            </a:r>
            <a:r>
              <a:rPr lang="en-US" b="1" dirty="0"/>
              <a:t>= 'UK' OR </a:t>
            </a:r>
            <a:r>
              <a:rPr lang="en-US" b="1" dirty="0" err="1"/>
              <a:t>country_id</a:t>
            </a:r>
            <a:r>
              <a:rPr lang="en-US" b="1" dirty="0"/>
              <a:t>= 'CA';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Ovaj uslov nam dozvoljava da selektujemo vrste koje imaju poklapanje sa zadatim šablonom</a:t>
            </a:r>
          </a:p>
          <a:p>
            <a:r>
              <a:rPr lang="sr-Latn-BA" dirty="0"/>
              <a:t>Dva simbola </a:t>
            </a:r>
            <a:r>
              <a:rPr lang="en-US" dirty="0"/>
              <a:t>(%)</a:t>
            </a:r>
            <a:r>
              <a:rPr lang="sr-Latn-BA" dirty="0"/>
              <a:t> i </a:t>
            </a:r>
            <a:r>
              <a:rPr lang="en-US" dirty="0"/>
              <a:t>(_)</a:t>
            </a:r>
            <a:r>
              <a:rPr lang="sr-Latn-BA" dirty="0"/>
              <a:t> koristimo da formiramo šablon</a:t>
            </a:r>
          </a:p>
          <a:p>
            <a:r>
              <a:rPr lang="sr-Latn-BA" dirty="0"/>
              <a:t>Znak  </a:t>
            </a:r>
            <a:r>
              <a:rPr lang="en-US" dirty="0"/>
              <a:t>(%)</a:t>
            </a:r>
            <a:r>
              <a:rPr lang="sr-Latn-BA" dirty="0"/>
              <a:t> se koristi da zameni proizvoljan broj (može i nula) karaktera</a:t>
            </a:r>
          </a:p>
          <a:p>
            <a:r>
              <a:rPr lang="sr-Latn-BA" dirty="0"/>
              <a:t>Znak </a:t>
            </a:r>
            <a:r>
              <a:rPr lang="en-US" dirty="0"/>
              <a:t>(_)</a:t>
            </a:r>
            <a:r>
              <a:rPr lang="sr-Latn-BA" dirty="0"/>
              <a:t> se koristi da zameni tačno jedan znak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r-Latn-BA" dirty="0"/>
              <a:t>Primer:</a:t>
            </a:r>
            <a:endParaRPr lang="en-US" dirty="0"/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last_name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last_name</a:t>
            </a:r>
            <a:r>
              <a:rPr lang="en-US" b="1" dirty="0"/>
              <a:t> LIKE '_o%';</a:t>
            </a:r>
            <a:endParaRPr lang="sr-Latn-BA" b="1" dirty="0"/>
          </a:p>
          <a:p>
            <a:r>
              <a:rPr lang="sr-Latn-BA" dirty="0"/>
              <a:t>Ako je neki od znakova _ ili % deo pretrage moramo da koristimo ESCAPE opciju da to naglasimo</a:t>
            </a:r>
          </a:p>
          <a:p>
            <a:r>
              <a:rPr lang="sr-Latn-BA" dirty="0"/>
              <a:t>Primer kada želimo pretragu za _R</a:t>
            </a:r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last_name</a:t>
            </a:r>
            <a:r>
              <a:rPr lang="en-US" b="1" dirty="0"/>
              <a:t>, </a:t>
            </a:r>
            <a:r>
              <a:rPr lang="en-US" b="1" dirty="0" err="1"/>
              <a:t>job_id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job_id</a:t>
            </a:r>
            <a:r>
              <a:rPr lang="en-US" b="1" dirty="0"/>
              <a:t> LIKE '%\_R%' ESCAPE '\'; 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NULL, IS NOT 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IS NULL</a:t>
            </a:r>
            <a:r>
              <a:rPr lang="sr-Latn-BA" dirty="0"/>
              <a:t> uslov vraća vrste koje u testiranoj koloni nemaju podatke</a:t>
            </a:r>
          </a:p>
          <a:p>
            <a:r>
              <a:rPr lang="en-US" dirty="0"/>
              <a:t>IS NOT NULL</a:t>
            </a:r>
            <a:r>
              <a:rPr lang="sr-Latn-BA" dirty="0"/>
              <a:t> uslov vraća vrste koje u testiranoj koloni imaju raspoložive podatke</a:t>
            </a:r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last_name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manager_id</a:t>
            </a:r>
            <a:r>
              <a:rPr lang="sr-Latn-BA" b="1" dirty="0"/>
              <a:t> </a:t>
            </a:r>
            <a:r>
              <a:rPr lang="en-US" b="1" dirty="0"/>
              <a:t>IS NULL;</a:t>
            </a:r>
            <a:endParaRPr lang="sr-Latn-BA" b="1" dirty="0"/>
          </a:p>
          <a:p>
            <a:pPr>
              <a:buNone/>
            </a:pPr>
            <a:endParaRPr lang="sr-Latn-BA" b="1" dirty="0"/>
          </a:p>
          <a:p>
            <a:pPr>
              <a:buNone/>
            </a:pPr>
            <a:r>
              <a:rPr lang="en-US" b="1" dirty="0"/>
              <a:t>SELECT </a:t>
            </a:r>
            <a:r>
              <a:rPr lang="en-US" b="1" dirty="0" err="1"/>
              <a:t>last_name</a:t>
            </a:r>
            <a:r>
              <a:rPr lang="en-US" b="1" dirty="0"/>
              <a:t>, </a:t>
            </a:r>
            <a:r>
              <a:rPr lang="en-US" b="1" dirty="0" err="1"/>
              <a:t>manager_id</a:t>
            </a:r>
            <a:endParaRPr lang="en-US" b="1" dirty="0"/>
          </a:p>
          <a:p>
            <a:pPr>
              <a:buNone/>
            </a:pPr>
            <a:r>
              <a:rPr lang="en-US" b="1" dirty="0"/>
              <a:t>FROM employees</a:t>
            </a:r>
          </a:p>
          <a:p>
            <a:pPr>
              <a:buNone/>
            </a:pPr>
            <a:r>
              <a:rPr lang="en-US" b="1" dirty="0"/>
              <a:t>WHERE </a:t>
            </a:r>
            <a:r>
              <a:rPr lang="en-US" b="1" dirty="0" err="1"/>
              <a:t>manager_id</a:t>
            </a:r>
            <a:r>
              <a:rPr lang="sr-Latn-BA" b="1" dirty="0"/>
              <a:t> </a:t>
            </a:r>
            <a:r>
              <a:rPr lang="en-US" b="1" dirty="0"/>
              <a:t>IS </a:t>
            </a:r>
            <a:r>
              <a:rPr lang="sr-Latn-BA" b="1" dirty="0"/>
              <a:t> NOT </a:t>
            </a:r>
            <a:r>
              <a:rPr lang="en-US" b="1" dirty="0"/>
              <a:t>NULL;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Doma</a:t>
            </a:r>
            <a:r>
              <a:rPr lang="sr-Latn-BA"/>
              <a:t>ći zadatak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Napisati</a:t>
            </a:r>
            <a:r>
              <a:rPr lang="en-US" dirty="0"/>
              <a:t> </a:t>
            </a:r>
            <a:r>
              <a:rPr lang="en-US" dirty="0" err="1"/>
              <a:t>naredbu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naslove</a:t>
            </a:r>
            <a:r>
              <a:rPr lang="en-US" dirty="0"/>
              <a:t> (titles) CD-ova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slovo</a:t>
            </a:r>
            <a:r>
              <a:rPr lang="en-US" dirty="0"/>
              <a:t> ‘a’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drugo</a:t>
            </a:r>
            <a:r>
              <a:rPr lang="en-US" dirty="0"/>
              <a:t> </a:t>
            </a:r>
            <a:r>
              <a:rPr lang="en-US" dirty="0" err="1"/>
              <a:t>slovo</a:t>
            </a:r>
            <a:r>
              <a:rPr lang="en-US" dirty="0"/>
              <a:t> u </a:t>
            </a:r>
            <a:r>
              <a:rPr lang="en-US" dirty="0" err="1"/>
              <a:t>naslovu</a:t>
            </a:r>
            <a:r>
              <a:rPr lang="en-US" dirty="0"/>
              <a:t>, </a:t>
            </a:r>
            <a:r>
              <a:rPr lang="en-US" dirty="0" err="1"/>
              <a:t>koristeći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 DJs on Demand.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Napisati</a:t>
            </a:r>
            <a:r>
              <a:rPr lang="en-US" dirty="0"/>
              <a:t> </a:t>
            </a:r>
            <a:r>
              <a:rPr lang="en-US" dirty="0" err="1"/>
              <a:t>naredbu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ime</a:t>
            </a:r>
            <a:r>
              <a:rPr lang="en-US" dirty="0"/>
              <a:t> (</a:t>
            </a:r>
            <a:r>
              <a:rPr lang="en-US" dirty="0" err="1"/>
              <a:t>first_name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prezime</a:t>
            </a:r>
            <a:r>
              <a:rPr lang="en-US" dirty="0"/>
              <a:t> (</a:t>
            </a:r>
            <a:r>
              <a:rPr lang="en-US" dirty="0" err="1"/>
              <a:t>last_name</a:t>
            </a:r>
            <a:r>
              <a:rPr lang="en-US" dirty="0"/>
              <a:t>) </a:t>
            </a:r>
            <a:r>
              <a:rPr lang="en-US" dirty="0" err="1"/>
              <a:t>partnera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nemaju</a:t>
            </a:r>
            <a:r>
              <a:rPr lang="en-US" dirty="0"/>
              <a:t> </a:t>
            </a:r>
            <a:r>
              <a:rPr lang="en-US" dirty="0" err="1"/>
              <a:t>autorizovane</a:t>
            </a:r>
            <a:r>
              <a:rPr lang="en-US" dirty="0"/>
              <a:t> </a:t>
            </a:r>
            <a:r>
              <a:rPr lang="en-US" dirty="0" err="1"/>
              <a:t>troskove</a:t>
            </a:r>
            <a:r>
              <a:rPr lang="en-US" dirty="0"/>
              <a:t> (</a:t>
            </a:r>
            <a:r>
              <a:rPr lang="en-US" dirty="0" err="1"/>
              <a:t>auth_expence_amt</a:t>
            </a:r>
            <a:r>
              <a:rPr lang="en-US" dirty="0"/>
              <a:t>) </a:t>
            </a:r>
            <a:r>
              <a:rPr lang="en-US" dirty="0" err="1"/>
              <a:t>koristeći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  DJs on Demand.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Napisati</a:t>
            </a:r>
            <a:r>
              <a:rPr lang="en-US" dirty="0"/>
              <a:t> </a:t>
            </a:r>
            <a:r>
              <a:rPr lang="en-US" dirty="0" err="1"/>
              <a:t>naredbu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ispisuje</a:t>
            </a:r>
            <a:r>
              <a:rPr lang="en-US" dirty="0"/>
              <a:t> </a:t>
            </a:r>
            <a:r>
              <a:rPr lang="en-US" dirty="0" err="1"/>
              <a:t>prezimena</a:t>
            </a:r>
            <a:r>
              <a:rPr lang="en-US" dirty="0"/>
              <a:t> (</a:t>
            </a:r>
            <a:r>
              <a:rPr lang="en-US" dirty="0" err="1"/>
              <a:t>last_name</a:t>
            </a:r>
            <a:r>
              <a:rPr lang="en-US" dirty="0"/>
              <a:t>) </a:t>
            </a:r>
            <a:r>
              <a:rPr lang="en-US" dirty="0" err="1"/>
              <a:t>zaposlenih</a:t>
            </a:r>
            <a:r>
              <a:rPr lang="en-US" dirty="0"/>
              <a:t> (employees) </a:t>
            </a:r>
            <a:r>
              <a:rPr lang="en-US" dirty="0" err="1"/>
              <a:t>čije</a:t>
            </a:r>
            <a:r>
              <a:rPr lang="en-US" dirty="0"/>
              <a:t> se </a:t>
            </a:r>
            <a:r>
              <a:rPr lang="en-US" dirty="0" err="1"/>
              <a:t>prezime</a:t>
            </a:r>
            <a:r>
              <a:rPr lang="en-US" dirty="0"/>
              <a:t> </a:t>
            </a:r>
            <a:r>
              <a:rPr lang="en-US" dirty="0" err="1"/>
              <a:t>završava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‘s’. U </a:t>
            </a:r>
            <a:r>
              <a:rPr lang="en-US" dirty="0" err="1"/>
              <a:t>zaglavlju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napisati</a:t>
            </a:r>
            <a:r>
              <a:rPr lang="en-US" dirty="0"/>
              <a:t> Possible Candidates.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od</a:t>
            </a:r>
            <a:r>
              <a:rPr lang="en-US" dirty="0"/>
              <a:t> </a:t>
            </a:r>
            <a:r>
              <a:rPr lang="en-US" dirty="0" err="1"/>
              <a:t>sledećih</a:t>
            </a:r>
            <a:r>
              <a:rPr lang="en-US" dirty="0"/>
              <a:t> </a:t>
            </a:r>
            <a:r>
              <a:rPr lang="en-US" dirty="0" err="1"/>
              <a:t>klauzula</a:t>
            </a:r>
            <a:r>
              <a:rPr lang="en-US" dirty="0"/>
              <a:t> je </a:t>
            </a:r>
            <a:r>
              <a:rPr lang="en-US" dirty="0" err="1"/>
              <a:t>ispravna</a:t>
            </a:r>
            <a:r>
              <a:rPr lang="en-US" dirty="0"/>
              <a:t>:</a:t>
            </a:r>
          </a:p>
          <a:p>
            <a:pPr marL="514350" lvl="0" indent="-514350">
              <a:buNone/>
            </a:pPr>
            <a:r>
              <a:rPr lang="en-US" dirty="0"/>
              <a:t>	WHERE quantity &lt;&gt; NULL;  </a:t>
            </a:r>
          </a:p>
          <a:p>
            <a:pPr marL="514350" lvl="0" indent="-514350">
              <a:buNone/>
            </a:pPr>
            <a:r>
              <a:rPr lang="en-US" dirty="0"/>
              <a:t>	WHERE quantity = NULL;</a:t>
            </a:r>
          </a:p>
          <a:p>
            <a:pPr marL="514350" lvl="0" indent="-514350">
              <a:buNone/>
            </a:pPr>
            <a:r>
              <a:rPr lang="en-US" dirty="0"/>
              <a:t>	WHERE quantity IS NULL;  </a:t>
            </a:r>
          </a:p>
          <a:p>
            <a:pPr marL="514350" lvl="0" indent="-514350">
              <a:buNone/>
            </a:pPr>
            <a:r>
              <a:rPr lang="en-US" dirty="0"/>
              <a:t>	WHERE quantity != NULL; </a:t>
            </a:r>
          </a:p>
          <a:p>
            <a:pPr marL="514350" lvl="0" indent="-514350">
              <a:buNone/>
            </a:pPr>
            <a:r>
              <a:rPr lang="en-US" dirty="0"/>
              <a:t>5. 	</a:t>
            </a:r>
            <a:r>
              <a:rPr lang="en-US" dirty="0" err="1"/>
              <a:t>Napisati</a:t>
            </a:r>
            <a:r>
              <a:rPr lang="en-US" dirty="0"/>
              <a:t> </a:t>
            </a:r>
            <a:r>
              <a:rPr lang="en-US" dirty="0" err="1"/>
              <a:t>naredbu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ispisuje</a:t>
            </a:r>
            <a:r>
              <a:rPr lang="en-US" dirty="0"/>
              <a:t> </a:t>
            </a:r>
            <a:r>
              <a:rPr lang="en-US" dirty="0" err="1"/>
              <a:t>naslove</a:t>
            </a:r>
            <a:r>
              <a:rPr lang="en-US" dirty="0"/>
              <a:t> (title) </a:t>
            </a:r>
            <a:r>
              <a:rPr lang="en-US" dirty="0" err="1"/>
              <a:t>pesama</a:t>
            </a:r>
            <a:r>
              <a:rPr lang="en-US" dirty="0"/>
              <a:t> (</a:t>
            </a:r>
            <a:r>
              <a:rPr lang="en-US" dirty="0" err="1"/>
              <a:t>d_songs</a:t>
            </a:r>
            <a:r>
              <a:rPr lang="en-US" dirty="0"/>
              <a:t>)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tip </a:t>
            </a:r>
            <a:r>
              <a:rPr lang="en-US" dirty="0" err="1"/>
              <a:t>koda</a:t>
            </a:r>
            <a:r>
              <a:rPr lang="en-US" dirty="0"/>
              <a:t> (</a:t>
            </a:r>
            <a:r>
              <a:rPr lang="en-US" dirty="0" err="1"/>
              <a:t>type_code</a:t>
            </a:r>
            <a:r>
              <a:rPr lang="en-US" dirty="0"/>
              <a:t>)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od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77, 12, 1.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811</Words>
  <Application>Microsoft Office PowerPoint</Application>
  <PresentationFormat>On-screen Show (4:3)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DISTINCT u SELECT naredbi</vt:lpstr>
      <vt:lpstr> WHERE u SELECT naredbi </vt:lpstr>
      <vt:lpstr>WHERE u SELECT naredbi</vt:lpstr>
      <vt:lpstr>WHERE u SELECT naredbi</vt:lpstr>
      <vt:lpstr>WHERE u SELECT naredbi</vt:lpstr>
      <vt:lpstr>WHERE u SELECT naredbi</vt:lpstr>
      <vt:lpstr>BETWEEN...AND</vt:lpstr>
      <vt:lpstr> IN "membership condition"  </vt:lpstr>
      <vt:lpstr>LIKE</vt:lpstr>
      <vt:lpstr>LIKE</vt:lpstr>
      <vt:lpstr>IS NULL, IS NOT NULL</vt:lpstr>
      <vt:lpstr>Domaći zadatak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Eliminacija duplikata u SELECT naredbi</dc:title>
  <dc:creator>Vesna</dc:creator>
  <cp:lastModifiedBy>Mladen Živanović</cp:lastModifiedBy>
  <cp:revision>17</cp:revision>
  <dcterms:created xsi:type="dcterms:W3CDTF">2019-01-30T22:17:54Z</dcterms:created>
  <dcterms:modified xsi:type="dcterms:W3CDTF">2025-09-15T08:53:23Z</dcterms:modified>
</cp:coreProperties>
</file>