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12" autoAdjust="0"/>
    <p:restoredTop sz="94660"/>
  </p:normalViewPr>
  <p:slideViewPr>
    <p:cSldViewPr>
      <p:cViewPr>
        <p:scale>
          <a:sx n="60" d="100"/>
          <a:sy n="60" d="100"/>
        </p:scale>
        <p:origin x="-1602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69730-D1B3-4E99-A46D-83663B4D663A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D84EC-442F-4FE7-B3B7-7D7F431934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8033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7D84EC-442F-4FE7-B3B7-7D7F431934D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A8B04-3705-4219-A372-CF75E0D4185B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4F63A-C98B-4684-9CE6-4C5A62751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Grupne</a:t>
            </a:r>
            <a:r>
              <a:rPr lang="en-US" dirty="0" smtClean="0"/>
              <a:t> </a:t>
            </a:r>
            <a:r>
              <a:rPr lang="en-US" dirty="0" err="1" smtClean="0"/>
              <a:t>funkcije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Redni</a:t>
            </a:r>
            <a:r>
              <a:rPr lang="en-US" dirty="0" smtClean="0"/>
              <a:t> </a:t>
            </a:r>
            <a:r>
              <a:rPr lang="en-US" dirty="0" err="1" smtClean="0"/>
              <a:t>upit</a:t>
            </a:r>
            <a:r>
              <a:rPr lang="en-US" dirty="0" smtClean="0"/>
              <a:t> </a:t>
            </a:r>
            <a:r>
              <a:rPr lang="en-US" dirty="0" err="1" smtClean="0"/>
              <a:t>nad</a:t>
            </a:r>
            <a:r>
              <a:rPr lang="en-US" dirty="0" smtClean="0"/>
              <a:t> </a:t>
            </a:r>
            <a:r>
              <a:rPr lang="en-US" dirty="0" err="1" smtClean="0"/>
              <a:t>jednom</a:t>
            </a:r>
            <a:r>
              <a:rPr lang="en-US" dirty="0" smtClean="0"/>
              <a:t> </a:t>
            </a:r>
            <a:r>
              <a:rPr lang="en-US" dirty="0" err="1" smtClean="0"/>
              <a:t>tabelom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svodnim</a:t>
            </a:r>
            <a:r>
              <a:rPr lang="en-US" dirty="0" smtClean="0"/>
              <a:t> </a:t>
            </a:r>
            <a:r>
              <a:rPr lang="en-US" dirty="0" err="1" smtClean="0"/>
              <a:t>rezultatom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Redni</a:t>
            </a:r>
            <a:r>
              <a:rPr lang="en-US" dirty="0" smtClean="0"/>
              <a:t> </a:t>
            </a:r>
            <a:r>
              <a:rPr lang="en-US" dirty="0" err="1" smtClean="0"/>
              <a:t>upit</a:t>
            </a:r>
            <a:r>
              <a:rPr lang="en-US" dirty="0" smtClean="0"/>
              <a:t> </a:t>
            </a:r>
            <a:r>
              <a:rPr lang="en-US" dirty="0" err="1" smtClean="0"/>
              <a:t>nad</a:t>
            </a:r>
            <a:r>
              <a:rPr lang="en-US" dirty="0" smtClean="0"/>
              <a:t> </a:t>
            </a:r>
            <a:r>
              <a:rPr lang="en-US" dirty="0" err="1" smtClean="0"/>
              <a:t>jednom</a:t>
            </a:r>
            <a:r>
              <a:rPr lang="en-US" dirty="0" smtClean="0"/>
              <a:t> </a:t>
            </a:r>
            <a:r>
              <a:rPr lang="en-US" dirty="0" err="1" smtClean="0"/>
              <a:t>tabelom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svodnim</a:t>
            </a:r>
            <a:r>
              <a:rPr lang="en-US" dirty="0" smtClean="0"/>
              <a:t> </a:t>
            </a:r>
            <a:r>
              <a:rPr lang="en-US" dirty="0" err="1" smtClean="0"/>
              <a:t>rezultatom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Rezultat</a:t>
            </a:r>
            <a:r>
              <a:rPr lang="en-US" dirty="0" smtClean="0"/>
              <a:t> je </a:t>
            </a:r>
            <a:r>
              <a:rPr lang="sr-Latn-RS" b="1" dirty="0" smtClean="0"/>
              <a:t>jedan red podataka </a:t>
            </a:r>
            <a:r>
              <a:rPr lang="sr-Latn-RS" dirty="0" smtClean="0"/>
              <a:t>koji su izvedeni </a:t>
            </a:r>
            <a:r>
              <a:rPr lang="sr-Latn-RS" b="1" dirty="0" smtClean="0"/>
              <a:t>iz svih redova tabele</a:t>
            </a:r>
            <a:r>
              <a:rPr lang="sr-Latn-RS" dirty="0" smtClean="0"/>
              <a:t> koji zadovoljavaju eventualno zadati uslov</a:t>
            </a:r>
          </a:p>
          <a:p>
            <a:r>
              <a:rPr lang="sr-Latn-RS" dirty="0" smtClean="0"/>
              <a:t>Koristimo </a:t>
            </a:r>
            <a:r>
              <a:rPr lang="sr-Latn-RS" b="1" dirty="0" smtClean="0"/>
              <a:t>grupne funkcije</a:t>
            </a:r>
            <a:r>
              <a:rPr lang="sr-Latn-RS" dirty="0" smtClean="0"/>
              <a:t> (funkcije agregacije) koje mogu da operišu sa celom tabelom ili sa zadatom grupom vrsta i daju jedan rezultat</a:t>
            </a:r>
          </a:p>
          <a:p>
            <a:pPr>
              <a:buNone/>
            </a:pPr>
            <a:r>
              <a:rPr lang="sr-Latn-RS" dirty="0" smtClean="0"/>
              <a:t>	-</a:t>
            </a:r>
            <a:r>
              <a:rPr lang="en-US" dirty="0" smtClean="0"/>
              <a:t>AVG –COUNT –MIN –MAX –SUM –VARIANCE –STDDEV</a:t>
            </a:r>
          </a:p>
          <a:p>
            <a:endParaRPr lang="sr-Latn-R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Funkcija 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K</a:t>
            </a:r>
            <a:r>
              <a:rPr lang="sr-Latn-RS" dirty="0" smtClean="0"/>
              <a:t>oristi se sa bilo kojim tipom podataka. Vraća minimalnu vrednost u toj koloni za posmatrane vrste</a:t>
            </a:r>
          </a:p>
          <a:p>
            <a:pPr>
              <a:buNone/>
            </a:pPr>
            <a:r>
              <a:rPr lang="en-US" dirty="0" smtClean="0"/>
              <a:t>SELECT MIN(</a:t>
            </a:r>
            <a:r>
              <a:rPr lang="en-US" dirty="0" err="1" smtClean="0"/>
              <a:t>country_name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wf_countries</a:t>
            </a:r>
            <a:r>
              <a:rPr lang="en-US" dirty="0" smtClean="0"/>
              <a:t>;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SELECT MIN(</a:t>
            </a:r>
            <a:r>
              <a:rPr lang="en-US" dirty="0" err="1" smtClean="0"/>
              <a:t>hire_date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employees;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SELECT MIN(</a:t>
            </a:r>
            <a:r>
              <a:rPr lang="sr-Latn-RS" dirty="0" smtClean="0"/>
              <a:t>salary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sr-Latn-RS" dirty="0" smtClean="0"/>
          </a:p>
          <a:p>
            <a:pPr>
              <a:buNone/>
            </a:pPr>
            <a:endParaRPr lang="en-US" dirty="0" smtClean="0"/>
          </a:p>
          <a:p>
            <a:endParaRPr lang="sr-Latn-R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Funkcija MAX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K</a:t>
            </a:r>
            <a:r>
              <a:rPr lang="sr-Latn-RS" dirty="0" smtClean="0"/>
              <a:t>oristi se sa bilo kojim tipom podataka. Vraća maksimalnu vrednost u toj koloni za posmatrane vrste</a:t>
            </a:r>
          </a:p>
          <a:p>
            <a:pPr>
              <a:buNone/>
            </a:pPr>
            <a:r>
              <a:rPr lang="en-US" dirty="0" smtClean="0"/>
              <a:t>SELECT MAX(</a:t>
            </a:r>
            <a:r>
              <a:rPr lang="en-US" dirty="0" err="1" smtClean="0"/>
              <a:t>country_name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wf_countries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SELECT MAX(</a:t>
            </a:r>
            <a:r>
              <a:rPr lang="en-US" dirty="0" err="1" smtClean="0"/>
              <a:t>hire_date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employees;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SELECT MAX(</a:t>
            </a:r>
            <a:r>
              <a:rPr lang="sr-Latn-RS" dirty="0" smtClean="0"/>
              <a:t>salary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W</a:t>
            </a:r>
            <a:r>
              <a:rPr lang="sr-Latn-RS" dirty="0" smtClean="0"/>
              <a:t>HERE department_id=90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sr-Latn-R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Funkcija 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 smtClean="0"/>
              <a:t>Vraća broj vrsta u tabeli koje zadovoljavaju eventualno zadati uslov</a:t>
            </a:r>
          </a:p>
          <a:p>
            <a:pPr>
              <a:buNone/>
            </a:pPr>
            <a:r>
              <a:rPr lang="sr-Latn-RS" dirty="0" smtClean="0"/>
              <a:t>SELECT COUNT(</a:t>
            </a:r>
            <a:r>
              <a:rPr lang="en-US" dirty="0" smtClean="0"/>
              <a:t>*)</a:t>
            </a:r>
          </a:p>
          <a:p>
            <a:pPr>
              <a:buNone/>
            </a:pPr>
            <a:r>
              <a:rPr lang="en-US" dirty="0" smtClean="0"/>
              <a:t>FROM employees;</a:t>
            </a:r>
            <a:r>
              <a:rPr lang="sr-Latn-RS" dirty="0" smtClean="0"/>
              <a:t> </a:t>
            </a:r>
            <a:r>
              <a:rPr lang="sr-Latn-RS" i="1" dirty="0" smtClean="0"/>
              <a:t>vraća broj vrsta u tabeli</a:t>
            </a:r>
            <a:endParaRPr lang="en-US" i="1" dirty="0" smtClean="0"/>
          </a:p>
          <a:p>
            <a:pPr>
              <a:buNone/>
            </a:pPr>
            <a:r>
              <a:rPr lang="en-US" dirty="0" smtClean="0"/>
              <a:t>SELECT COUNT(</a:t>
            </a:r>
            <a:r>
              <a:rPr lang="en-US" dirty="0" err="1" smtClean="0"/>
              <a:t>commission_pct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FROM employees;</a:t>
            </a:r>
            <a:r>
              <a:rPr lang="sr-Latn-RS" dirty="0" smtClean="0"/>
              <a:t> </a:t>
            </a:r>
            <a:r>
              <a:rPr lang="sr-Latn-RS" i="1" dirty="0" smtClean="0"/>
              <a:t>vraća broj vrsta bez NULL</a:t>
            </a:r>
            <a:endParaRPr lang="en-US" i="1" dirty="0" smtClean="0"/>
          </a:p>
          <a:p>
            <a:pPr>
              <a:buNone/>
            </a:pPr>
            <a:r>
              <a:rPr lang="en-US" dirty="0" smtClean="0"/>
              <a:t>SELECT COUNT(DISTINCT </a:t>
            </a:r>
            <a:r>
              <a:rPr lang="en-US" dirty="0" err="1" smtClean="0"/>
              <a:t>commission_pct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FROM employees;</a:t>
            </a:r>
            <a:r>
              <a:rPr lang="sr-Latn-RS" dirty="0" smtClean="0"/>
              <a:t> </a:t>
            </a:r>
            <a:r>
              <a:rPr lang="sr-Latn-RS" i="1" dirty="0" smtClean="0"/>
              <a:t>vraća broj vrsta bez ponavljanja</a:t>
            </a:r>
            <a:endParaRPr lang="en-US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Funkcija SUM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Koristi se sa kolonama koje imaju numeričke vrednosti da nađe total za tu kolonu u vrstama koje zadovoljavaju eventualni uslov</a:t>
            </a:r>
          </a:p>
          <a:p>
            <a:pPr>
              <a:buNone/>
            </a:pPr>
            <a:r>
              <a:rPr lang="en-US" dirty="0" smtClean="0"/>
              <a:t>SELECT SUM(area)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wf_countries</a:t>
            </a:r>
            <a:r>
              <a:rPr lang="en-US" dirty="0" smtClean="0"/>
              <a:t>;</a:t>
            </a:r>
            <a:r>
              <a:rPr lang="sr-Latn-RS" dirty="0" smtClean="0"/>
              <a:t> </a:t>
            </a:r>
            <a:r>
              <a:rPr lang="sr-Latn-RS" i="1" dirty="0" smtClean="0"/>
              <a:t>total u svim vrstama</a:t>
            </a:r>
          </a:p>
          <a:p>
            <a:pPr>
              <a:buNone/>
            </a:pPr>
            <a:r>
              <a:rPr lang="en-US" dirty="0" smtClean="0"/>
              <a:t>SELECT SUM(salary)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department_id</a:t>
            </a:r>
            <a:r>
              <a:rPr lang="en-US" dirty="0" smtClean="0"/>
              <a:t> = 90;</a:t>
            </a:r>
            <a:endParaRPr lang="sr-Latn-R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Funkcija AVG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Koristi se sa kolonama koje imaju numeričke vrednosti da nađe prosek za tu kolonu u vrstama koje zadovoljavaju eventualni uslov</a:t>
            </a:r>
          </a:p>
          <a:p>
            <a:pPr>
              <a:buNone/>
            </a:pPr>
            <a:r>
              <a:rPr lang="en-US" dirty="0" smtClean="0"/>
              <a:t>SELECT AVG(area)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wf_countries</a:t>
            </a:r>
            <a:r>
              <a:rPr lang="sr-Latn-RS" dirty="0" smtClean="0"/>
              <a:t>;</a:t>
            </a:r>
          </a:p>
          <a:p>
            <a:pPr>
              <a:buNone/>
            </a:pPr>
            <a:r>
              <a:rPr lang="en-US" dirty="0" smtClean="0"/>
              <a:t>SELECT ROUND(AVG(salary), 2)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department_id</a:t>
            </a:r>
            <a:r>
              <a:rPr lang="en-US" dirty="0" smtClean="0"/>
              <a:t> = 90;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Grupne funkcije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 smtClean="0"/>
              <a:t>Grupne funkcije ne uzimaju u obzir NULL vrednosti</a:t>
            </a:r>
          </a:p>
          <a:p>
            <a:pPr>
              <a:buNone/>
            </a:pPr>
            <a:r>
              <a:rPr lang="en-US" dirty="0" smtClean="0"/>
              <a:t>SELECT AVG(</a:t>
            </a:r>
            <a:r>
              <a:rPr lang="en-US" dirty="0" err="1" smtClean="0"/>
              <a:t>commission_pct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employees;</a:t>
            </a:r>
            <a:endParaRPr lang="sr-Latn-RS" dirty="0" smtClean="0"/>
          </a:p>
          <a:p>
            <a:pPr>
              <a:buNone/>
            </a:pPr>
            <a:r>
              <a:rPr lang="sr-Latn-RS" dirty="0" smtClean="0"/>
              <a:t>Možemo koristiti više grupnih funkcija, nad istom ili nad različitim kolonama</a:t>
            </a:r>
          </a:p>
          <a:p>
            <a:pPr>
              <a:buNone/>
            </a:pPr>
            <a:r>
              <a:rPr lang="en-US" dirty="0" smtClean="0"/>
              <a:t>SELECT MAX(salary), MIN(</a:t>
            </a:r>
            <a:r>
              <a:rPr lang="en-US" dirty="0" err="1" smtClean="0"/>
              <a:t>employee_id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 WHERE </a:t>
            </a:r>
            <a:r>
              <a:rPr lang="en-US" dirty="0" err="1" smtClean="0"/>
              <a:t>department_id</a:t>
            </a:r>
            <a:r>
              <a:rPr lang="en-US" dirty="0" smtClean="0"/>
              <a:t> = 60;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Grupne funkcije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Grupne funkcije </a:t>
            </a:r>
            <a:r>
              <a:rPr lang="sr-Latn-RS" b="1" dirty="0" smtClean="0"/>
              <a:t>ne mogu </a:t>
            </a:r>
            <a:r>
              <a:rPr lang="sr-Latn-RS" dirty="0" smtClean="0"/>
              <a:t>se koristiti u WHERE klauzuli</a:t>
            </a:r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last_name</a:t>
            </a:r>
            <a:r>
              <a:rPr lang="en-US" dirty="0" smtClean="0"/>
              <a:t>, </a:t>
            </a:r>
            <a:r>
              <a:rPr lang="en-US" dirty="0" err="1" smtClean="0"/>
              <a:t>first_name</a:t>
            </a:r>
            <a:r>
              <a:rPr lang="en-US" dirty="0" smtClean="0"/>
              <a:t>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 WHERE salary = </a:t>
            </a:r>
            <a:r>
              <a:rPr lang="en-US" dirty="0" smtClean="0">
                <a:solidFill>
                  <a:srgbClr val="FF0000"/>
                </a:solidFill>
              </a:rPr>
              <a:t>MIN(salary)</a:t>
            </a:r>
            <a:r>
              <a:rPr lang="en-US" dirty="0" smtClean="0"/>
              <a:t>;</a:t>
            </a:r>
          </a:p>
          <a:p>
            <a:r>
              <a:rPr lang="sr-Latn-RS" dirty="0" smtClean="0"/>
              <a:t>MIN, MAX, COUNT mogu se koristiti sa svim tipovima podataka</a:t>
            </a:r>
          </a:p>
          <a:p>
            <a:r>
              <a:rPr lang="sr-Latn-RS" dirty="0" smtClean="0"/>
              <a:t>SUM, AVG, (STDEV, VARIANCE) se mogu koristiti samo sa numeričkim podacima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Grupne funkcije i NVL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Nekad je poželjno uključiti i kolone sa NULL vrednošću u grupne funkcije</a:t>
            </a:r>
          </a:p>
          <a:p>
            <a:pPr>
              <a:buNone/>
            </a:pPr>
            <a:r>
              <a:rPr lang="en-US" dirty="0" smtClean="0"/>
              <a:t>SELECT AVG(</a:t>
            </a:r>
            <a:r>
              <a:rPr lang="en-US" dirty="0" err="1" smtClean="0"/>
              <a:t>commission_pct</a:t>
            </a:r>
            <a:r>
              <a:rPr lang="en-US" dirty="0" smtClean="0"/>
              <a:t>) 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FROM employees;</a:t>
            </a:r>
            <a:endParaRPr lang="sr-Latn-RS" dirty="0" smtClean="0"/>
          </a:p>
          <a:p>
            <a:pPr>
              <a:buNone/>
            </a:pPr>
            <a:r>
              <a:rPr lang="en-US" dirty="0" smtClean="0"/>
              <a:t>SELECT AVG(NVL(</a:t>
            </a:r>
            <a:r>
              <a:rPr lang="en-US" dirty="0" err="1" smtClean="0"/>
              <a:t>commission_pct</a:t>
            </a:r>
            <a:r>
              <a:rPr lang="en-US" dirty="0" smtClean="0"/>
              <a:t>, 0)) </a:t>
            </a:r>
            <a:endParaRPr lang="sr-Latn-RS" smtClean="0"/>
          </a:p>
          <a:p>
            <a:pPr>
              <a:buNone/>
            </a:pPr>
            <a:r>
              <a:rPr lang="en-US" smtClean="0"/>
              <a:t>FROM employees;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Domaći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err="1" smtClean="0"/>
              <a:t>Ispisati</a:t>
            </a:r>
            <a:r>
              <a:rPr lang="en-US" dirty="0" smtClean="0"/>
              <a:t> </a:t>
            </a:r>
            <a:r>
              <a:rPr lang="en-US" dirty="0" err="1" smtClean="0"/>
              <a:t>zaokruženo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dve</a:t>
            </a:r>
            <a:r>
              <a:rPr lang="en-US" dirty="0" smtClean="0"/>
              <a:t> </a:t>
            </a:r>
            <a:r>
              <a:rPr lang="en-US" dirty="0" err="1" smtClean="0"/>
              <a:t>decimale</a:t>
            </a:r>
            <a:r>
              <a:rPr lang="en-US" dirty="0" smtClean="0"/>
              <a:t> </a:t>
            </a:r>
            <a:r>
              <a:rPr lang="en-US" dirty="0" err="1" smtClean="0"/>
              <a:t>prosečnu</a:t>
            </a:r>
            <a:r>
              <a:rPr lang="en-US" dirty="0" smtClean="0"/>
              <a:t> </a:t>
            </a:r>
            <a:r>
              <a:rPr lang="en-US" dirty="0" err="1" smtClean="0"/>
              <a:t>cenu</a:t>
            </a:r>
            <a:r>
              <a:rPr lang="en-US" dirty="0" smtClean="0"/>
              <a:t> (cost) </a:t>
            </a:r>
            <a:r>
              <a:rPr lang="en-US" dirty="0" err="1" smtClean="0"/>
              <a:t>događaja</a:t>
            </a:r>
            <a:r>
              <a:rPr lang="en-US" dirty="0" smtClean="0"/>
              <a:t> (</a:t>
            </a:r>
            <a:r>
              <a:rPr lang="en-US" dirty="0" err="1" smtClean="0"/>
              <a:t>d_events</a:t>
            </a:r>
            <a:r>
              <a:rPr lang="en-US" dirty="0" smtClean="0"/>
              <a:t>) u </a:t>
            </a:r>
            <a:r>
              <a:rPr lang="en-US" dirty="0" err="1" smtClean="0"/>
              <a:t>bazi</a:t>
            </a:r>
            <a:r>
              <a:rPr lang="en-US" dirty="0" smtClean="0"/>
              <a:t> DJs on Demand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 smtClean="0"/>
              <a:t>Ispisati</a:t>
            </a:r>
            <a:r>
              <a:rPr lang="en-US" dirty="0" smtClean="0"/>
              <a:t> </a:t>
            </a:r>
            <a:r>
              <a:rPr lang="en-US" dirty="0" err="1" smtClean="0"/>
              <a:t>sume</a:t>
            </a:r>
            <a:r>
              <a:rPr lang="en-US" dirty="0" smtClean="0"/>
              <a:t> </a:t>
            </a:r>
            <a:r>
              <a:rPr lang="en-US" dirty="0" err="1" smtClean="0"/>
              <a:t>plata</a:t>
            </a:r>
            <a:r>
              <a:rPr lang="en-US" dirty="0" smtClean="0"/>
              <a:t> (salary)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zaposlene</a:t>
            </a:r>
            <a:r>
              <a:rPr lang="en-US" dirty="0" smtClean="0"/>
              <a:t> (</a:t>
            </a:r>
            <a:r>
              <a:rPr lang="en-US" dirty="0" err="1" smtClean="0"/>
              <a:t>f_staffs</a:t>
            </a:r>
            <a:r>
              <a:rPr lang="en-US" dirty="0" smtClean="0"/>
              <a:t>) u </a:t>
            </a:r>
            <a:r>
              <a:rPr lang="en-US" dirty="0" err="1" smtClean="0"/>
              <a:t>bazi</a:t>
            </a:r>
            <a:r>
              <a:rPr lang="en-US" dirty="0" smtClean="0"/>
              <a:t> Global Fast Foods </a:t>
            </a:r>
            <a:r>
              <a:rPr lang="en-US" dirty="0" err="1" smtClean="0"/>
              <a:t>ako</a:t>
            </a:r>
            <a:r>
              <a:rPr lang="en-US" dirty="0" smtClean="0"/>
              <a:t> </a:t>
            </a:r>
            <a:r>
              <a:rPr lang="en-US" dirty="0" err="1" smtClean="0"/>
              <a:t>im</a:t>
            </a:r>
            <a:r>
              <a:rPr lang="en-US" dirty="0" smtClean="0"/>
              <a:t> je id </a:t>
            </a:r>
            <a:r>
              <a:rPr lang="en-US" dirty="0" err="1" smtClean="0"/>
              <a:t>jedan</a:t>
            </a:r>
            <a:r>
              <a:rPr lang="en-US" dirty="0" smtClean="0"/>
              <a:t> </a:t>
            </a:r>
            <a:r>
              <a:rPr lang="en-US" dirty="0" err="1" smtClean="0"/>
              <a:t>od</a:t>
            </a:r>
            <a:r>
              <a:rPr lang="en-US" dirty="0" smtClean="0"/>
              <a:t> </a:t>
            </a:r>
            <a:r>
              <a:rPr lang="en-US" dirty="0" err="1" smtClean="0"/>
              <a:t>brojeva</a:t>
            </a:r>
            <a:r>
              <a:rPr lang="en-US" dirty="0" smtClean="0"/>
              <a:t> 8,9,12,15 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 smtClean="0"/>
              <a:t>Ispisati</a:t>
            </a:r>
            <a:r>
              <a:rPr lang="en-US" dirty="0" smtClean="0"/>
              <a:t> </a:t>
            </a:r>
            <a:r>
              <a:rPr lang="en-US" dirty="0" err="1" smtClean="0"/>
              <a:t>najmanju</a:t>
            </a:r>
            <a:r>
              <a:rPr lang="en-US" dirty="0" smtClean="0"/>
              <a:t> </a:t>
            </a:r>
            <a:r>
              <a:rPr lang="en-US" dirty="0" err="1" smtClean="0"/>
              <a:t>platu</a:t>
            </a:r>
            <a:r>
              <a:rPr lang="en-US" dirty="0" smtClean="0"/>
              <a:t> (salary), datum </a:t>
            </a:r>
            <a:r>
              <a:rPr lang="en-US" dirty="0" err="1" smtClean="0"/>
              <a:t>poslednjeg</a:t>
            </a:r>
            <a:r>
              <a:rPr lang="en-US" dirty="0" smtClean="0"/>
              <a:t> </a:t>
            </a:r>
            <a:r>
              <a:rPr lang="en-US" dirty="0" err="1" smtClean="0"/>
              <a:t>zaposlenja</a:t>
            </a:r>
            <a:r>
              <a:rPr lang="en-US" dirty="0" smtClean="0"/>
              <a:t> (</a:t>
            </a:r>
            <a:r>
              <a:rPr lang="en-US" dirty="0" err="1" smtClean="0"/>
              <a:t>hire_date</a:t>
            </a:r>
            <a:r>
              <a:rPr lang="en-US" dirty="0" smtClean="0"/>
              <a:t>), </a:t>
            </a:r>
            <a:r>
              <a:rPr lang="en-US" dirty="0" err="1" smtClean="0"/>
              <a:t>prvo</a:t>
            </a:r>
            <a:r>
              <a:rPr lang="en-US" dirty="0" smtClean="0"/>
              <a:t> </a:t>
            </a:r>
            <a:r>
              <a:rPr lang="en-US" dirty="0" err="1" smtClean="0"/>
              <a:t>prezime</a:t>
            </a:r>
            <a:r>
              <a:rPr lang="en-US" dirty="0" smtClean="0"/>
              <a:t> (</a:t>
            </a:r>
            <a:r>
              <a:rPr lang="en-US" dirty="0" err="1" smtClean="0"/>
              <a:t>last_name</a:t>
            </a:r>
            <a:r>
              <a:rPr lang="en-US" dirty="0" smtClean="0"/>
              <a:t>)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poslednje</a:t>
            </a:r>
            <a:r>
              <a:rPr lang="en-US" dirty="0" smtClean="0"/>
              <a:t> </a:t>
            </a:r>
            <a:r>
              <a:rPr lang="en-US" dirty="0" err="1" smtClean="0"/>
              <a:t>prezime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zaposlene</a:t>
            </a:r>
            <a:r>
              <a:rPr lang="en-US" dirty="0" smtClean="0"/>
              <a:t> (employees) u </a:t>
            </a:r>
            <a:r>
              <a:rPr lang="en-US" dirty="0" err="1" smtClean="0"/>
              <a:t>odeljenjima</a:t>
            </a:r>
            <a:r>
              <a:rPr lang="en-US" dirty="0" smtClean="0"/>
              <a:t> (</a:t>
            </a:r>
            <a:r>
              <a:rPr lang="en-US" dirty="0" err="1" smtClean="0"/>
              <a:t>department_id</a:t>
            </a:r>
            <a:r>
              <a:rPr lang="en-US" dirty="0" smtClean="0"/>
              <a:t>) 50 </a:t>
            </a:r>
            <a:r>
              <a:rPr lang="en-US" dirty="0" err="1" smtClean="0"/>
              <a:t>ili</a:t>
            </a:r>
            <a:r>
              <a:rPr lang="en-US" dirty="0" smtClean="0"/>
              <a:t> 60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</a:t>
            </a:r>
            <a:r>
              <a:rPr lang="en-US" dirty="0" err="1" smtClean="0"/>
              <a:t>Ispisati</a:t>
            </a:r>
            <a:r>
              <a:rPr lang="en-US" dirty="0" smtClean="0"/>
              <a:t> </a:t>
            </a:r>
            <a:r>
              <a:rPr lang="en-US" dirty="0" err="1" smtClean="0"/>
              <a:t>prosečnu</a:t>
            </a:r>
            <a:r>
              <a:rPr lang="en-US" dirty="0" smtClean="0"/>
              <a:t> </a:t>
            </a:r>
            <a:r>
              <a:rPr lang="en-US" dirty="0" err="1" smtClean="0"/>
              <a:t>vrednost</a:t>
            </a:r>
            <a:r>
              <a:rPr lang="en-US" dirty="0" smtClean="0"/>
              <a:t> </a:t>
            </a:r>
            <a:r>
              <a:rPr lang="en-US" dirty="0" err="1" smtClean="0"/>
              <a:t>naručenog</a:t>
            </a:r>
            <a:r>
              <a:rPr lang="en-US" dirty="0" smtClean="0"/>
              <a:t> (</a:t>
            </a:r>
            <a:r>
              <a:rPr lang="en-US" dirty="0" err="1" smtClean="0"/>
              <a:t>order_total</a:t>
            </a:r>
            <a:r>
              <a:rPr lang="en-US" dirty="0" smtClean="0"/>
              <a:t>)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tabele</a:t>
            </a:r>
            <a:r>
              <a:rPr lang="en-US" dirty="0" smtClean="0"/>
              <a:t> </a:t>
            </a:r>
            <a:r>
              <a:rPr lang="en-US" dirty="0" err="1" smtClean="0"/>
              <a:t>f_orders</a:t>
            </a:r>
            <a:r>
              <a:rPr lang="en-US" dirty="0" smtClean="0"/>
              <a:t> u </a:t>
            </a:r>
            <a:r>
              <a:rPr lang="en-US" dirty="0" err="1" smtClean="0"/>
              <a:t>bazi</a:t>
            </a:r>
            <a:r>
              <a:rPr lang="en-US" dirty="0" smtClean="0"/>
              <a:t> Global Fast Foods u </a:t>
            </a:r>
            <a:r>
              <a:rPr lang="en-US" dirty="0" err="1" smtClean="0"/>
              <a:t>toku</a:t>
            </a:r>
            <a:r>
              <a:rPr lang="en-US" dirty="0" smtClean="0"/>
              <a:t> 2002 </a:t>
            </a:r>
            <a:r>
              <a:rPr lang="en-US" dirty="0" err="1" smtClean="0"/>
              <a:t>godine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Na </a:t>
            </a:r>
            <a:r>
              <a:rPr lang="en-US" dirty="0" err="1" smtClean="0"/>
              <a:t>koliko</a:t>
            </a:r>
            <a:r>
              <a:rPr lang="en-US" dirty="0" smtClean="0"/>
              <a:t> </a:t>
            </a:r>
            <a:r>
              <a:rPr lang="en-US" dirty="0" err="1" smtClean="0"/>
              <a:t>različitih</a:t>
            </a:r>
            <a:r>
              <a:rPr lang="en-US" dirty="0" smtClean="0"/>
              <a:t> </a:t>
            </a:r>
            <a:r>
              <a:rPr lang="en-US" dirty="0" err="1" smtClean="0"/>
              <a:t>tipova</a:t>
            </a:r>
            <a:r>
              <a:rPr lang="en-US" dirty="0" smtClean="0"/>
              <a:t> </a:t>
            </a:r>
            <a:r>
              <a:rPr lang="en-US" dirty="0" err="1" smtClean="0"/>
              <a:t>lokacija</a:t>
            </a:r>
            <a:r>
              <a:rPr lang="en-US" dirty="0" smtClean="0"/>
              <a:t> (</a:t>
            </a:r>
            <a:r>
              <a:rPr lang="en-US" dirty="0" err="1" smtClean="0"/>
              <a:t>loc_type</a:t>
            </a:r>
            <a:r>
              <a:rPr lang="en-US" dirty="0" smtClean="0"/>
              <a:t>) se </a:t>
            </a:r>
            <a:r>
              <a:rPr lang="en-US" dirty="0" err="1" smtClean="0"/>
              <a:t>održavaju</a:t>
            </a:r>
            <a:r>
              <a:rPr lang="en-US" dirty="0" smtClean="0"/>
              <a:t> </a:t>
            </a:r>
            <a:r>
              <a:rPr lang="en-US" dirty="0" err="1" smtClean="0"/>
              <a:t>događaji</a:t>
            </a:r>
            <a:r>
              <a:rPr lang="en-US" dirty="0" smtClean="0"/>
              <a:t> (</a:t>
            </a:r>
            <a:r>
              <a:rPr lang="en-US" dirty="0" err="1" smtClean="0"/>
              <a:t>d_venus</a:t>
            </a:r>
            <a:r>
              <a:rPr lang="en-US" dirty="0" smtClean="0"/>
              <a:t>) u </a:t>
            </a:r>
            <a:r>
              <a:rPr lang="en-US" dirty="0" err="1" smtClean="0"/>
              <a:t>bazi</a:t>
            </a:r>
            <a:r>
              <a:rPr lang="en-US" dirty="0" smtClean="0"/>
              <a:t> DJs on Demand?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 smtClean="0"/>
              <a:t>Koliko</a:t>
            </a:r>
            <a:r>
              <a:rPr lang="en-US" dirty="0" smtClean="0"/>
              <a:t>  </a:t>
            </a:r>
            <a:r>
              <a:rPr lang="en-US" dirty="0" err="1" smtClean="0"/>
              <a:t>pesama</a:t>
            </a:r>
            <a:r>
              <a:rPr lang="en-US" dirty="0" smtClean="0"/>
              <a:t> (</a:t>
            </a:r>
            <a:r>
              <a:rPr lang="en-US" dirty="0" err="1" smtClean="0"/>
              <a:t>song_id</a:t>
            </a:r>
            <a:r>
              <a:rPr lang="en-US" dirty="0" smtClean="0"/>
              <a:t>), a </a:t>
            </a:r>
            <a:r>
              <a:rPr lang="en-US" dirty="0" err="1" smtClean="0"/>
              <a:t>koliko</a:t>
            </a:r>
            <a:r>
              <a:rPr lang="en-US" dirty="0" smtClean="0"/>
              <a:t> </a:t>
            </a:r>
            <a:r>
              <a:rPr lang="en-US" dirty="0" err="1" smtClean="0"/>
              <a:t>različitih</a:t>
            </a:r>
            <a:r>
              <a:rPr lang="en-US" dirty="0" smtClean="0"/>
              <a:t> </a:t>
            </a:r>
            <a:r>
              <a:rPr lang="en-US" dirty="0" err="1" smtClean="0"/>
              <a:t>brojeva</a:t>
            </a:r>
            <a:r>
              <a:rPr lang="en-US" dirty="0" smtClean="0"/>
              <a:t> CD-ova (</a:t>
            </a:r>
            <a:r>
              <a:rPr lang="en-US" dirty="0" err="1" smtClean="0"/>
              <a:t>cd_number</a:t>
            </a:r>
            <a:r>
              <a:rPr lang="en-US" dirty="0" smtClean="0"/>
              <a:t>) </a:t>
            </a:r>
            <a:r>
              <a:rPr lang="en-US" dirty="0" err="1" smtClean="0"/>
              <a:t>ima</a:t>
            </a:r>
            <a:r>
              <a:rPr lang="en-US" dirty="0" smtClean="0"/>
              <a:t> u </a:t>
            </a:r>
            <a:r>
              <a:rPr lang="en-US" dirty="0" err="1" smtClean="0"/>
              <a:t>tabeli</a:t>
            </a:r>
            <a:r>
              <a:rPr lang="en-US" dirty="0" smtClean="0"/>
              <a:t> </a:t>
            </a:r>
            <a:r>
              <a:rPr lang="en-US" dirty="0" err="1" smtClean="0"/>
              <a:t>d_track_listings</a:t>
            </a:r>
            <a:r>
              <a:rPr lang="en-US" dirty="0" smtClean="0"/>
              <a:t> u </a:t>
            </a:r>
            <a:r>
              <a:rPr lang="en-US" dirty="0" err="1" smtClean="0"/>
              <a:t>bazi</a:t>
            </a:r>
            <a:r>
              <a:rPr lang="en-US" dirty="0" smtClean="0"/>
              <a:t> DJs on Demand?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426</Words>
  <Application>Microsoft Office PowerPoint</Application>
  <PresentationFormat>On-screen Show (4:3)</PresentationFormat>
  <Paragraphs>79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Grupne funkcije </vt:lpstr>
      <vt:lpstr> Redni upit nad jednom tabelom sa svodnim rezultatom </vt:lpstr>
      <vt:lpstr>Funkcija MIN</vt:lpstr>
      <vt:lpstr>Funkcija MAX</vt:lpstr>
      <vt:lpstr>Funkcija COUNT</vt:lpstr>
      <vt:lpstr>Funkcija SUM</vt:lpstr>
      <vt:lpstr>Funkcija AVG</vt:lpstr>
      <vt:lpstr>Grupne funkcije</vt:lpstr>
      <vt:lpstr>Grupne funkcije</vt:lpstr>
      <vt:lpstr>Grupne funkcije i NVL</vt:lpstr>
      <vt:lpstr>Domaći zadatak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Grupne funkcije</dc:title>
  <dc:creator>Vesna Veljkovic</dc:creator>
  <cp:lastModifiedBy>Vesna</cp:lastModifiedBy>
  <cp:revision>11</cp:revision>
  <dcterms:created xsi:type="dcterms:W3CDTF">2019-03-01T11:49:00Z</dcterms:created>
  <dcterms:modified xsi:type="dcterms:W3CDTF">2020-11-08T21:06:28Z</dcterms:modified>
</cp:coreProperties>
</file>